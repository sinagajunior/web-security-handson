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924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27162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14C88-8B77-5C69-D593-A24D88E82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1763F7-C27D-74D4-4A2E-4AEC5724E2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61EC50-5870-70F8-C97C-3413280E0F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EAF8EA-DC92-A483-F9E3-036C030CD4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90149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5669280" y="274320"/>
            <a:ext cx="3200400" cy="3200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B04A"/>
                </a:solidFill>
              </a:rPr>
              <a:t>GUEST LECTURE  ·  WEB SECURITY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10515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 Security</a:t>
            </a:r>
            <a:endParaRPr lang="en-US" sz="5600" dirty="0"/>
          </a:p>
        </p:txBody>
      </p:sp>
      <p:sp>
        <p:nvSpPr>
          <p:cNvPr id="6" name="Text 3"/>
          <p:cNvSpPr/>
          <p:nvPr/>
        </p:nvSpPr>
        <p:spPr>
          <a:xfrm>
            <a:off x="457200" y="187452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E8B0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the Wild</a:t>
            </a:r>
            <a:endParaRPr lang="en-US" sz="5600" dirty="0"/>
          </a:p>
        </p:txBody>
      </p:sp>
      <p:sp>
        <p:nvSpPr>
          <p:cNvPr id="7" name="Shape 4"/>
          <p:cNvSpPr/>
          <p:nvPr/>
        </p:nvSpPr>
        <p:spPr>
          <a:xfrm>
            <a:off x="457200" y="2880360"/>
            <a:ext cx="1920240" cy="347472"/>
          </a:xfrm>
          <a:prstGeom prst="roundRect">
            <a:avLst>
              <a:gd name="adj" fmla="val 31579"/>
            </a:avLst>
          </a:prstGeom>
          <a:solidFill>
            <a:srgbClr val="1E3D6B"/>
          </a:solidFill>
          <a:ln w="12700">
            <a:solidFill>
              <a:srgbClr val="C89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57200" y="28803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B04A"/>
                </a:solidFill>
              </a:rPr>
              <a:t>OWASP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514600" y="2880360"/>
            <a:ext cx="1920240" cy="347472"/>
          </a:xfrm>
          <a:prstGeom prst="roundRect">
            <a:avLst>
              <a:gd name="adj" fmla="val 31579"/>
            </a:avLst>
          </a:prstGeom>
          <a:solidFill>
            <a:srgbClr val="1E3D6B"/>
          </a:solidFill>
          <a:ln w="12700">
            <a:solidFill>
              <a:srgbClr val="C89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2514600" y="28803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B04A"/>
                </a:solidFill>
              </a:rPr>
              <a:t>CVE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0" y="2880360"/>
            <a:ext cx="1920240" cy="347472"/>
          </a:xfrm>
          <a:prstGeom prst="roundRect">
            <a:avLst>
              <a:gd name="adj" fmla="val 31579"/>
            </a:avLst>
          </a:prstGeom>
          <a:solidFill>
            <a:srgbClr val="1E3D6B"/>
          </a:solidFill>
          <a:ln w="12700">
            <a:solidFill>
              <a:srgbClr val="C89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572000" y="28803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B04A"/>
                </a:solidFill>
              </a:rPr>
              <a:t>Code Scanning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629400" y="2880360"/>
            <a:ext cx="1920240" cy="347472"/>
          </a:xfrm>
          <a:prstGeom prst="roundRect">
            <a:avLst>
              <a:gd name="adj" fmla="val 31579"/>
            </a:avLst>
          </a:prstGeom>
          <a:solidFill>
            <a:srgbClr val="1E3D6B"/>
          </a:solidFill>
          <a:ln w="12700">
            <a:solidFill>
              <a:srgbClr val="C89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629400" y="28803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B04A"/>
                </a:solidFill>
              </a:rPr>
              <a:t>Kasus Indonesia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3401568"/>
            <a:ext cx="4114800" cy="0"/>
          </a:xfrm>
          <a:prstGeom prst="line">
            <a:avLst/>
          </a:prstGeom>
          <a:noFill/>
          <a:ln w="12700">
            <a:solidFill>
              <a:srgbClr val="C89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57200" y="35204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7E8C8"/>
                </a:solidFill>
              </a:rPr>
              <a:t>"Keamanan bukan fitur tambahan — ini fondasi."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57200" y="41605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Roy Antonius</a:t>
            </a:r>
            <a:r>
              <a:rPr lang="en-US" sz="1400" dirty="0">
                <a:solidFill>
                  <a:srgbClr val="6B7280"/>
                </a:solidFill>
              </a:rPr>
              <a:t>  ·  </a:t>
            </a:r>
            <a:r>
              <a:rPr lang="en-US" sz="1300" dirty="0">
                <a:solidFill>
                  <a:srgbClr val="E5E7EB"/>
                </a:solidFill>
              </a:rPr>
              <a:t>Software Engineering Specialist, Accenture Indonesia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</a:rPr>
              <a:t>18+ </a:t>
            </a:r>
            <a:r>
              <a:rPr lang="en-US" sz="1100" b="1" dirty="0" err="1">
                <a:solidFill>
                  <a:srgbClr val="0B1F3A"/>
                </a:solidFill>
              </a:rPr>
              <a:t>Tahun</a:t>
            </a:r>
            <a:r>
              <a:rPr lang="en-US" sz="1100" b="1" dirty="0">
                <a:solidFill>
                  <a:srgbClr val="0B1F3A"/>
                </a:solidFill>
              </a:rPr>
              <a:t> experience · 13 Perusahaan · 2 Sertifikasi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09728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9808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</a:rPr>
              <a:t>PROFIL PEMBICARA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365760" y="841248"/>
            <a:ext cx="1371600" cy="1371600"/>
          </a:xfrm>
          <a:prstGeom prst="ellipse">
            <a:avLst/>
          </a:prstGeom>
          <a:solidFill>
            <a:srgbClr val="C8922A"/>
          </a:solidFill>
          <a:ln w="12700">
            <a:solidFill>
              <a:srgbClr val="E8B0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365760" y="841248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1965960" y="82296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Roy Antonius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965960" y="128016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Software Engineering Specialist  ·  Accenture Indonesia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65760" y="1783080"/>
            <a:ext cx="3657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65760" y="1783080"/>
            <a:ext cx="475488" cy="512064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" y="1874520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32688" y="1819656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APAC OWASP Secure Coding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932688" y="204825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Secure Code Warrior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365760" y="2386584"/>
            <a:ext cx="3657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365760" y="2386584"/>
            <a:ext cx="475488" cy="512064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624" y="2478024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32688" y="242316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AWS Certified Solutions Architect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932688" y="265176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Amazon Web Services · Jan 2024</a:t>
            </a:r>
            <a:endParaRPr lang="en-US" sz="850" dirty="0"/>
          </a:p>
        </p:txBody>
      </p:sp>
      <p:sp>
        <p:nvSpPr>
          <p:cNvPr id="19" name="Shape 14"/>
          <p:cNvSpPr/>
          <p:nvPr/>
        </p:nvSpPr>
        <p:spPr>
          <a:xfrm>
            <a:off x="365760" y="2990088"/>
            <a:ext cx="3657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0" name="Shape 15"/>
          <p:cNvSpPr/>
          <p:nvPr/>
        </p:nvSpPr>
        <p:spPr>
          <a:xfrm>
            <a:off x="365760" y="2990088"/>
            <a:ext cx="475488" cy="512064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624" y="3081528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2688" y="3026664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Next (on progress) -&gt; CKAD &amp; Claude Code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932688" y="325526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CNCF Anthropic · 2026</a:t>
            </a:r>
            <a:endParaRPr lang="en-US" sz="850" dirty="0"/>
          </a:p>
        </p:txBody>
      </p:sp>
      <p:sp>
        <p:nvSpPr>
          <p:cNvPr id="24" name="Text 18"/>
          <p:cNvSpPr/>
          <p:nvPr/>
        </p:nvSpPr>
        <p:spPr>
          <a:xfrm>
            <a:off x="365760" y="3703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B7280"/>
                </a:solidFill>
              </a:rPr>
              <a:t>Industri: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1298448" y="3685032"/>
            <a:ext cx="1060704" cy="237744"/>
          </a:xfrm>
          <a:prstGeom prst="roundRect">
            <a:avLst>
              <a:gd name="adj" fmla="val 30769"/>
            </a:avLst>
          </a:prstGeom>
          <a:solidFill>
            <a:srgbClr val="162D50"/>
          </a:solidFill>
          <a:ln w="12700">
            <a:solidFill>
              <a:srgbClr val="16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0"/>
          <p:cNvSpPr/>
          <p:nvPr/>
        </p:nvSpPr>
        <p:spPr>
          <a:xfrm>
            <a:off x="1298448" y="3685032"/>
            <a:ext cx="106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Perkebunan</a:t>
            </a:r>
            <a:endParaRPr lang="en-US" sz="850" dirty="0"/>
          </a:p>
        </p:txBody>
      </p:sp>
      <p:sp>
        <p:nvSpPr>
          <p:cNvPr id="27" name="Shape 21"/>
          <p:cNvSpPr/>
          <p:nvPr/>
        </p:nvSpPr>
        <p:spPr>
          <a:xfrm>
            <a:off x="2441448" y="3685032"/>
            <a:ext cx="1221638" cy="237744"/>
          </a:xfrm>
          <a:prstGeom prst="roundRect">
            <a:avLst>
              <a:gd name="adj" fmla="val 30769"/>
            </a:avLst>
          </a:prstGeom>
          <a:solidFill>
            <a:srgbClr val="162D50"/>
          </a:solidFill>
          <a:ln w="12700">
            <a:solidFill>
              <a:srgbClr val="16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2"/>
          <p:cNvSpPr/>
          <p:nvPr/>
        </p:nvSpPr>
        <p:spPr>
          <a:xfrm>
            <a:off x="2441448" y="3685032"/>
            <a:ext cx="12216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Pemerintahan</a:t>
            </a:r>
            <a:endParaRPr lang="en-US" sz="850" dirty="0"/>
          </a:p>
        </p:txBody>
      </p:sp>
      <p:sp>
        <p:nvSpPr>
          <p:cNvPr id="29" name="Shape 23"/>
          <p:cNvSpPr/>
          <p:nvPr/>
        </p:nvSpPr>
        <p:spPr>
          <a:xfrm>
            <a:off x="1298448" y="3977640"/>
            <a:ext cx="899770" cy="237744"/>
          </a:xfrm>
          <a:prstGeom prst="roundRect">
            <a:avLst>
              <a:gd name="adj" fmla="val 30769"/>
            </a:avLst>
          </a:prstGeom>
          <a:solidFill>
            <a:srgbClr val="162D50"/>
          </a:solidFill>
          <a:ln w="12700">
            <a:solidFill>
              <a:srgbClr val="16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4"/>
          <p:cNvSpPr/>
          <p:nvPr/>
        </p:nvSpPr>
        <p:spPr>
          <a:xfrm>
            <a:off x="1298448" y="3977640"/>
            <a:ext cx="8997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Logistik</a:t>
            </a:r>
            <a:endParaRPr lang="en-US" sz="850" dirty="0"/>
          </a:p>
        </p:txBody>
      </p:sp>
      <p:sp>
        <p:nvSpPr>
          <p:cNvPr id="31" name="Shape 25"/>
          <p:cNvSpPr/>
          <p:nvPr/>
        </p:nvSpPr>
        <p:spPr>
          <a:xfrm>
            <a:off x="2280514" y="3977640"/>
            <a:ext cx="899770" cy="237744"/>
          </a:xfrm>
          <a:prstGeom prst="roundRect">
            <a:avLst>
              <a:gd name="adj" fmla="val 30769"/>
            </a:avLst>
          </a:prstGeom>
          <a:solidFill>
            <a:srgbClr val="162D50"/>
          </a:solidFill>
          <a:ln w="12700">
            <a:solidFill>
              <a:srgbClr val="16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6"/>
          <p:cNvSpPr/>
          <p:nvPr/>
        </p:nvSpPr>
        <p:spPr>
          <a:xfrm>
            <a:off x="2280514" y="3977640"/>
            <a:ext cx="8997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Asuransi</a:t>
            </a:r>
            <a:endParaRPr lang="en-US" sz="850" dirty="0"/>
          </a:p>
        </p:txBody>
      </p:sp>
      <p:sp>
        <p:nvSpPr>
          <p:cNvPr id="33" name="Shape 27"/>
          <p:cNvSpPr/>
          <p:nvPr/>
        </p:nvSpPr>
        <p:spPr>
          <a:xfrm>
            <a:off x="1298448" y="4270248"/>
            <a:ext cx="1060704" cy="237744"/>
          </a:xfrm>
          <a:prstGeom prst="roundRect">
            <a:avLst>
              <a:gd name="adj" fmla="val 30769"/>
            </a:avLst>
          </a:prstGeom>
          <a:solidFill>
            <a:srgbClr val="162D50"/>
          </a:solidFill>
          <a:ln w="12700">
            <a:solidFill>
              <a:srgbClr val="16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8"/>
          <p:cNvSpPr/>
          <p:nvPr/>
        </p:nvSpPr>
        <p:spPr>
          <a:xfrm>
            <a:off x="1298448" y="4270248"/>
            <a:ext cx="106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E-commerce</a:t>
            </a:r>
            <a:endParaRPr lang="en-US" sz="850" dirty="0"/>
          </a:p>
        </p:txBody>
      </p:sp>
      <p:sp>
        <p:nvSpPr>
          <p:cNvPr id="35" name="Shape 29"/>
          <p:cNvSpPr/>
          <p:nvPr/>
        </p:nvSpPr>
        <p:spPr>
          <a:xfrm>
            <a:off x="2441448" y="4270248"/>
            <a:ext cx="819302" cy="237744"/>
          </a:xfrm>
          <a:prstGeom prst="roundRect">
            <a:avLst>
              <a:gd name="adj" fmla="val 30769"/>
            </a:avLst>
          </a:prstGeom>
          <a:solidFill>
            <a:srgbClr val="162D50"/>
          </a:solidFill>
          <a:ln w="12700">
            <a:solidFill>
              <a:srgbClr val="16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0"/>
          <p:cNvSpPr/>
          <p:nvPr/>
        </p:nvSpPr>
        <p:spPr>
          <a:xfrm>
            <a:off x="2441448" y="4270248"/>
            <a:ext cx="81930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Fintech</a:t>
            </a:r>
            <a:endParaRPr lang="en-US" sz="850" dirty="0"/>
          </a:p>
        </p:txBody>
      </p:sp>
      <p:sp>
        <p:nvSpPr>
          <p:cNvPr id="37" name="Shape 31"/>
          <p:cNvSpPr/>
          <p:nvPr/>
        </p:nvSpPr>
        <p:spPr>
          <a:xfrm>
            <a:off x="3343046" y="4270248"/>
            <a:ext cx="738835" cy="237744"/>
          </a:xfrm>
          <a:prstGeom prst="roundRect">
            <a:avLst>
              <a:gd name="adj" fmla="val 30769"/>
            </a:avLst>
          </a:prstGeom>
          <a:solidFill>
            <a:srgbClr val="162D50"/>
          </a:solidFill>
          <a:ln w="12700">
            <a:solidFill>
              <a:srgbClr val="16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2"/>
          <p:cNvSpPr/>
          <p:nvPr/>
        </p:nvSpPr>
        <p:spPr>
          <a:xfrm>
            <a:off x="3343046" y="4270248"/>
            <a:ext cx="7388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Global</a:t>
            </a:r>
            <a:endParaRPr lang="en-US" sz="850" dirty="0"/>
          </a:p>
        </p:txBody>
      </p:sp>
      <p:sp>
        <p:nvSpPr>
          <p:cNvPr id="39" name="Shape 33"/>
          <p:cNvSpPr/>
          <p:nvPr/>
        </p:nvSpPr>
        <p:spPr>
          <a:xfrm>
            <a:off x="4572000" y="749808"/>
            <a:ext cx="43434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r>
              <a:rPr lang="en-US" b="1" dirty="0">
                <a:solidFill>
                  <a:srgbClr val="1E293B"/>
                </a:solidFill>
              </a:rPr>
              <a:t>●</a:t>
            </a:r>
            <a:endParaRPr lang="en-US" dirty="0"/>
          </a:p>
        </p:txBody>
      </p:sp>
      <p:sp>
        <p:nvSpPr>
          <p:cNvPr id="40" name="Text 34"/>
          <p:cNvSpPr/>
          <p:nvPr/>
        </p:nvSpPr>
        <p:spPr>
          <a:xfrm>
            <a:off x="4709160" y="804672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C8922A"/>
                </a:solidFill>
              </a:rPr>
              <a:t>EVOLUSI KARIER 18 TAHUN</a:t>
            </a:r>
            <a:endParaRPr lang="en-US" sz="950" dirty="0"/>
          </a:p>
        </p:txBody>
      </p:sp>
      <p:sp>
        <p:nvSpPr>
          <p:cNvPr id="41" name="Shape 35"/>
          <p:cNvSpPr/>
          <p:nvPr/>
        </p:nvSpPr>
        <p:spPr>
          <a:xfrm>
            <a:off x="4572000" y="1170432"/>
            <a:ext cx="128016" cy="53035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6"/>
          <p:cNvSpPr/>
          <p:nvPr/>
        </p:nvSpPr>
        <p:spPr>
          <a:xfrm>
            <a:off x="4736592" y="1207008"/>
            <a:ext cx="868680" cy="21031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37"/>
          <p:cNvSpPr/>
          <p:nvPr/>
        </p:nvSpPr>
        <p:spPr>
          <a:xfrm>
            <a:off x="4736592" y="1207008"/>
            <a:ext cx="868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</a:rPr>
              <a:t>2006–2008</a:t>
            </a:r>
            <a:endParaRPr lang="en-US" sz="800" dirty="0"/>
          </a:p>
        </p:txBody>
      </p:sp>
      <p:sp>
        <p:nvSpPr>
          <p:cNvPr id="44" name="Text 38"/>
          <p:cNvSpPr/>
          <p:nvPr/>
        </p:nvSpPr>
        <p:spPr>
          <a:xfrm>
            <a:off x="5669280" y="119786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Awal Karier</a:t>
            </a:r>
            <a:endParaRPr lang="en-US" sz="1100" dirty="0"/>
          </a:p>
        </p:txBody>
      </p:sp>
      <p:sp>
        <p:nvSpPr>
          <p:cNvPr id="45" name="Text 39"/>
          <p:cNvSpPr/>
          <p:nvPr/>
        </p:nvSpPr>
        <p:spPr>
          <a:xfrm>
            <a:off x="4736592" y="1435608"/>
            <a:ext cx="4069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IT Staff / Support/Developer  · Riau ,Papua barat, Bengkulu</a:t>
            </a:r>
            <a:endParaRPr lang="en-US" sz="900" dirty="0"/>
          </a:p>
        </p:txBody>
      </p:sp>
      <p:sp>
        <p:nvSpPr>
          <p:cNvPr id="46" name="Text 40"/>
          <p:cNvSpPr/>
          <p:nvPr/>
        </p:nvSpPr>
        <p:spPr>
          <a:xfrm>
            <a:off x="4736592" y="1563624"/>
            <a:ext cx="4069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B7280"/>
                </a:solidFill>
              </a:rPr>
              <a:t>Oracle DBA · FoxPro · SQL Server</a:t>
            </a:r>
            <a:endParaRPr lang="en-US" sz="750" dirty="0"/>
          </a:p>
        </p:txBody>
      </p:sp>
      <p:sp>
        <p:nvSpPr>
          <p:cNvPr id="47" name="Shape 41"/>
          <p:cNvSpPr/>
          <p:nvPr/>
        </p:nvSpPr>
        <p:spPr>
          <a:xfrm>
            <a:off x="4572000" y="1828800"/>
            <a:ext cx="128016" cy="5303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2"/>
          <p:cNvSpPr/>
          <p:nvPr/>
        </p:nvSpPr>
        <p:spPr>
          <a:xfrm>
            <a:off x="4736592" y="1865376"/>
            <a:ext cx="868680" cy="21031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3"/>
          <p:cNvSpPr/>
          <p:nvPr/>
        </p:nvSpPr>
        <p:spPr>
          <a:xfrm>
            <a:off x="4736592" y="1865376"/>
            <a:ext cx="868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</a:rPr>
              <a:t>2009–2011</a:t>
            </a:r>
            <a:endParaRPr lang="en-US" sz="800" dirty="0"/>
          </a:p>
        </p:txBody>
      </p:sp>
      <p:sp>
        <p:nvSpPr>
          <p:cNvPr id="50" name="Text 44"/>
          <p:cNvSpPr/>
          <p:nvPr/>
        </p:nvSpPr>
        <p:spPr>
          <a:xfrm>
            <a:off x="5669280" y="185623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Era .NET</a:t>
            </a:r>
            <a:endParaRPr lang="en-US" sz="1100" dirty="0"/>
          </a:p>
        </p:txBody>
      </p:sp>
      <p:sp>
        <p:nvSpPr>
          <p:cNvPr id="51" name="Text 45"/>
          <p:cNvSpPr/>
          <p:nvPr/>
        </p:nvSpPr>
        <p:spPr>
          <a:xfrm>
            <a:off x="4736592" y="2093976"/>
            <a:ext cx="4069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C# / ASP.NET Developer</a:t>
            </a:r>
            <a:endParaRPr lang="en-US" sz="900" dirty="0"/>
          </a:p>
        </p:txBody>
      </p:sp>
      <p:sp>
        <p:nvSpPr>
          <p:cNvPr id="52" name="Text 46"/>
          <p:cNvSpPr/>
          <p:nvPr/>
        </p:nvSpPr>
        <p:spPr>
          <a:xfrm>
            <a:off x="4736592" y="2221992"/>
            <a:ext cx="4069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B7280"/>
                </a:solidFill>
              </a:rPr>
              <a:t>ASP.NET 3.5 · C# · VB.NET · WCF</a:t>
            </a:r>
            <a:endParaRPr lang="en-US" sz="750" dirty="0"/>
          </a:p>
        </p:txBody>
      </p:sp>
      <p:sp>
        <p:nvSpPr>
          <p:cNvPr id="53" name="Shape 47"/>
          <p:cNvSpPr/>
          <p:nvPr/>
        </p:nvSpPr>
        <p:spPr>
          <a:xfrm>
            <a:off x="4572000" y="2487168"/>
            <a:ext cx="128016" cy="5303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48"/>
          <p:cNvSpPr/>
          <p:nvPr/>
        </p:nvSpPr>
        <p:spPr>
          <a:xfrm>
            <a:off x="4736592" y="2523744"/>
            <a:ext cx="868680" cy="21031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49"/>
          <p:cNvSpPr/>
          <p:nvPr/>
        </p:nvSpPr>
        <p:spPr>
          <a:xfrm>
            <a:off x="4736592" y="2523744"/>
            <a:ext cx="868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</a:rPr>
              <a:t>2011–2018</a:t>
            </a:r>
            <a:endParaRPr lang="en-US" sz="800" dirty="0"/>
          </a:p>
        </p:txBody>
      </p:sp>
      <p:sp>
        <p:nvSpPr>
          <p:cNvPr id="56" name="Text 50"/>
          <p:cNvSpPr/>
          <p:nvPr/>
        </p:nvSpPr>
        <p:spPr>
          <a:xfrm>
            <a:off x="5669280" y="251460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Era Java</a:t>
            </a:r>
            <a:endParaRPr lang="en-US" sz="1100" dirty="0"/>
          </a:p>
        </p:txBody>
      </p:sp>
      <p:sp>
        <p:nvSpPr>
          <p:cNvPr id="57" name="Text 51"/>
          <p:cNvSpPr/>
          <p:nvPr/>
        </p:nvSpPr>
        <p:spPr>
          <a:xfrm>
            <a:off x="4736592" y="2752344"/>
            <a:ext cx="4069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IT Assistant </a:t>
            </a:r>
            <a:r>
              <a:rPr lang="en-US" sz="900" dirty="0" err="1">
                <a:solidFill>
                  <a:srgbClr val="6B7280"/>
                </a:solidFill>
              </a:rPr>
              <a:t>Mgr</a:t>
            </a:r>
            <a:r>
              <a:rPr lang="en-US" sz="900" dirty="0">
                <a:solidFill>
                  <a:srgbClr val="6B7280"/>
                </a:solidFill>
              </a:rPr>
              <a:t> Samsung ·  Java Dev  </a:t>
            </a:r>
            <a:endParaRPr lang="en-US" sz="900" dirty="0"/>
          </a:p>
        </p:txBody>
      </p:sp>
      <p:sp>
        <p:nvSpPr>
          <p:cNvPr id="58" name="Text 52"/>
          <p:cNvSpPr/>
          <p:nvPr/>
        </p:nvSpPr>
        <p:spPr>
          <a:xfrm>
            <a:off x="4736592" y="2880360"/>
            <a:ext cx="4069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B7280"/>
                </a:solidFill>
              </a:rPr>
              <a:t>Spring MVC · Spring Security · JSF · Kafka</a:t>
            </a:r>
            <a:endParaRPr lang="en-US" sz="750" dirty="0"/>
          </a:p>
        </p:txBody>
      </p:sp>
      <p:sp>
        <p:nvSpPr>
          <p:cNvPr id="59" name="Shape 53"/>
          <p:cNvSpPr/>
          <p:nvPr/>
        </p:nvSpPr>
        <p:spPr>
          <a:xfrm>
            <a:off x="4572000" y="3145536"/>
            <a:ext cx="128016" cy="530352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4"/>
          <p:cNvSpPr/>
          <p:nvPr/>
        </p:nvSpPr>
        <p:spPr>
          <a:xfrm>
            <a:off x="4736592" y="3182112"/>
            <a:ext cx="868680" cy="21031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5"/>
          <p:cNvSpPr/>
          <p:nvPr/>
        </p:nvSpPr>
        <p:spPr>
          <a:xfrm>
            <a:off x="4736592" y="3182112"/>
            <a:ext cx="868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</a:rPr>
              <a:t>2018–2025</a:t>
            </a:r>
            <a:endParaRPr lang="en-US" sz="800" dirty="0"/>
          </a:p>
        </p:txBody>
      </p:sp>
      <p:sp>
        <p:nvSpPr>
          <p:cNvPr id="62" name="Text 56"/>
          <p:cNvSpPr/>
          <p:nvPr/>
        </p:nvSpPr>
        <p:spPr>
          <a:xfrm>
            <a:off x="5669280" y="317296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Era Cloud</a:t>
            </a:r>
            <a:endParaRPr lang="en-US" sz="1100" dirty="0"/>
          </a:p>
        </p:txBody>
      </p:sp>
      <p:sp>
        <p:nvSpPr>
          <p:cNvPr id="63" name="Text 57"/>
          <p:cNvSpPr/>
          <p:nvPr/>
        </p:nvSpPr>
        <p:spPr>
          <a:xfrm>
            <a:off x="4736592" y="3410712"/>
            <a:ext cx="4069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Backend Eng · Allianz</a:t>
            </a:r>
            <a:endParaRPr lang="en-US" sz="900" dirty="0"/>
          </a:p>
        </p:txBody>
      </p:sp>
      <p:sp>
        <p:nvSpPr>
          <p:cNvPr id="64" name="Text 58"/>
          <p:cNvSpPr/>
          <p:nvPr/>
        </p:nvSpPr>
        <p:spPr>
          <a:xfrm>
            <a:off x="4736592" y="3538728"/>
            <a:ext cx="4069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C8922A"/>
                </a:solidFill>
              </a:rPr>
              <a:t>Spring Boot · Rust · Docker · K8s · AWS</a:t>
            </a:r>
            <a:endParaRPr lang="en-US" sz="750" dirty="0"/>
          </a:p>
        </p:txBody>
      </p:sp>
      <p:sp>
        <p:nvSpPr>
          <p:cNvPr id="65" name="Shape 59"/>
          <p:cNvSpPr/>
          <p:nvPr/>
        </p:nvSpPr>
        <p:spPr>
          <a:xfrm>
            <a:off x="4572000" y="3803904"/>
            <a:ext cx="128016" cy="530352"/>
          </a:xfrm>
          <a:prstGeom prst="rect">
            <a:avLst/>
          </a:prstGeom>
          <a:solidFill>
            <a:srgbClr val="1A6B4A"/>
          </a:solidFill>
          <a:ln w="12700">
            <a:solidFill>
              <a:srgbClr val="1A6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0"/>
          <p:cNvSpPr/>
          <p:nvPr/>
        </p:nvSpPr>
        <p:spPr>
          <a:xfrm>
            <a:off x="4736592" y="3840480"/>
            <a:ext cx="868680" cy="21031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1"/>
          <p:cNvSpPr/>
          <p:nvPr/>
        </p:nvSpPr>
        <p:spPr>
          <a:xfrm>
            <a:off x="4736592" y="3840480"/>
            <a:ext cx="868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</a:rPr>
              <a:t>2025–kini</a:t>
            </a:r>
            <a:endParaRPr lang="en-US" sz="800" dirty="0"/>
          </a:p>
        </p:txBody>
      </p:sp>
      <p:sp>
        <p:nvSpPr>
          <p:cNvPr id="68" name="Text 62"/>
          <p:cNvSpPr/>
          <p:nvPr/>
        </p:nvSpPr>
        <p:spPr>
          <a:xfrm>
            <a:off x="5669280" y="383133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Era AI</a:t>
            </a:r>
            <a:endParaRPr lang="en-US" sz="1100" dirty="0"/>
          </a:p>
        </p:txBody>
      </p:sp>
      <p:sp>
        <p:nvSpPr>
          <p:cNvPr id="69" name="Text 63"/>
          <p:cNvSpPr/>
          <p:nvPr/>
        </p:nvSpPr>
        <p:spPr>
          <a:xfrm>
            <a:off x="4736592" y="4069080"/>
            <a:ext cx="4069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Accenture Indonesia</a:t>
            </a:r>
            <a:endParaRPr lang="en-US" sz="900" dirty="0"/>
          </a:p>
        </p:txBody>
      </p:sp>
      <p:sp>
        <p:nvSpPr>
          <p:cNvPr id="70" name="Text 64"/>
          <p:cNvSpPr/>
          <p:nvPr/>
        </p:nvSpPr>
        <p:spPr>
          <a:xfrm>
            <a:off x="4736592" y="4197096"/>
            <a:ext cx="4069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B7280"/>
                </a:solidFill>
              </a:rPr>
              <a:t>Posisi saat ini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18872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9808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</a:rPr>
              <a:t>MENGAPA WEB SECURITY PENTING?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Lanskap Ancaman Siber Indonesia 2023–2024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365760" y="1115568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365760" y="1115568"/>
            <a:ext cx="274320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61288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65760" y="148132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400 Juta+</a:t>
            </a:r>
            <a:endParaRPr lang="en-US" sz="3000" dirty="0"/>
          </a:p>
        </p:txBody>
      </p:sp>
      <p:sp>
        <p:nvSpPr>
          <p:cNvPr id="10" name="Text 6"/>
          <p:cNvSpPr/>
          <p:nvPr/>
        </p:nvSpPr>
        <p:spPr>
          <a:xfrm>
            <a:off x="365760" y="20299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</a:rPr>
              <a:t>Serangan terdeteksi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365760" y="22860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BSSN 2023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3310128" y="1115568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3310128" y="1115568"/>
            <a:ext cx="2743200" cy="347472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68" y="1161288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310128" y="148132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354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#5</a:t>
            </a:r>
            <a:endParaRPr lang="en-US" sz="3000" dirty="0"/>
          </a:p>
        </p:txBody>
      </p:sp>
      <p:sp>
        <p:nvSpPr>
          <p:cNvPr id="16" name="Text 11"/>
          <p:cNvSpPr/>
          <p:nvPr/>
        </p:nvSpPr>
        <p:spPr>
          <a:xfrm>
            <a:off x="3310128" y="20299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</a:rPr>
              <a:t>Target terbesar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3310128" y="22860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Asia Tenggara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6254496" y="1115568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6254496" y="1115568"/>
            <a:ext cx="2743200" cy="34747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5936" y="1161288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254496" y="148132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Triliunan</a:t>
            </a:r>
            <a:endParaRPr lang="en-US" sz="3000" dirty="0"/>
          </a:p>
        </p:txBody>
      </p:sp>
      <p:sp>
        <p:nvSpPr>
          <p:cNvPr id="22" name="Text 16"/>
          <p:cNvSpPr/>
          <p:nvPr/>
        </p:nvSpPr>
        <p:spPr>
          <a:xfrm>
            <a:off x="6254496" y="20299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</a:rPr>
              <a:t>Estimasi kerugian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6254496" y="22860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per tahun (Rp)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365760" y="26974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C8922A"/>
                </a:solidFill>
              </a:rPr>
              <a:t>TIMELINE INSIDEN BESAR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5029200" y="26974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</a:rPr>
              <a:t>Sumber: BSSN Annual Report · IBM Cost of Data Breach 2023</a:t>
            </a:r>
            <a:endParaRPr lang="en-US" sz="850" dirty="0"/>
          </a:p>
        </p:txBody>
      </p:sp>
      <p:sp>
        <p:nvSpPr>
          <p:cNvPr id="26" name="Shape 20"/>
          <p:cNvSpPr/>
          <p:nvPr/>
        </p:nvSpPr>
        <p:spPr>
          <a:xfrm>
            <a:off x="365760" y="3337560"/>
            <a:ext cx="8412480" cy="0"/>
          </a:xfrm>
          <a:prstGeom prst="line">
            <a:avLst/>
          </a:prstGeom>
          <a:noFill/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1"/>
          <p:cNvSpPr/>
          <p:nvPr/>
        </p:nvSpPr>
        <p:spPr>
          <a:xfrm>
            <a:off x="393192" y="3282696"/>
            <a:ext cx="219456" cy="219456"/>
          </a:xfrm>
          <a:prstGeom prst="ellipse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2"/>
          <p:cNvSpPr/>
          <p:nvPr/>
        </p:nvSpPr>
        <p:spPr>
          <a:xfrm>
            <a:off x="502920" y="3502152"/>
            <a:ext cx="0" cy="201168"/>
          </a:xfrm>
          <a:prstGeom prst="line">
            <a:avLst/>
          </a:prstGeom>
          <a:noFill/>
          <a:ln w="12700">
            <a:solidFill>
              <a:srgbClr val="D354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3"/>
          <p:cNvSpPr/>
          <p:nvPr/>
        </p:nvSpPr>
        <p:spPr>
          <a:xfrm>
            <a:off x="0" y="37216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</a:rPr>
              <a:t>2019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-45720" y="393192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</a:rPr>
              <a:t>Tokopedia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-91440" y="413308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B7280"/>
                </a:solidFill>
              </a:rPr>
              <a:t>91 juta akun</a:t>
            </a:r>
            <a:endParaRPr lang="en-US" sz="850" dirty="0"/>
          </a:p>
        </p:txBody>
      </p:sp>
      <p:sp>
        <p:nvSpPr>
          <p:cNvPr id="32" name="Shape 26"/>
          <p:cNvSpPr/>
          <p:nvPr/>
        </p:nvSpPr>
        <p:spPr>
          <a:xfrm>
            <a:off x="2153412" y="3282696"/>
            <a:ext cx="219456" cy="21945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27"/>
          <p:cNvSpPr/>
          <p:nvPr/>
        </p:nvSpPr>
        <p:spPr>
          <a:xfrm>
            <a:off x="2263140" y="3502152"/>
            <a:ext cx="0" cy="201168"/>
          </a:xfrm>
          <a:prstGeom prst="line">
            <a:avLst/>
          </a:prstGeom>
          <a:noFill/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8"/>
          <p:cNvSpPr/>
          <p:nvPr/>
        </p:nvSpPr>
        <p:spPr>
          <a:xfrm>
            <a:off x="1760220" y="37216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</a:rPr>
              <a:t>2021</a:t>
            </a:r>
            <a:endParaRPr lang="en-US" sz="1100" dirty="0"/>
          </a:p>
        </p:txBody>
      </p:sp>
      <p:sp>
        <p:nvSpPr>
          <p:cNvPr id="35" name="Text 29"/>
          <p:cNvSpPr/>
          <p:nvPr/>
        </p:nvSpPr>
        <p:spPr>
          <a:xfrm>
            <a:off x="1714500" y="393192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</a:rPr>
              <a:t>BPJS Kes.</a:t>
            </a:r>
            <a:endParaRPr lang="en-US" sz="1000" dirty="0"/>
          </a:p>
        </p:txBody>
      </p:sp>
      <p:sp>
        <p:nvSpPr>
          <p:cNvPr id="36" name="Text 30"/>
          <p:cNvSpPr/>
          <p:nvPr/>
        </p:nvSpPr>
        <p:spPr>
          <a:xfrm>
            <a:off x="1668780" y="413308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B7280"/>
                </a:solidFill>
              </a:rPr>
              <a:t>279 juta data</a:t>
            </a:r>
            <a:endParaRPr lang="en-US" sz="850" dirty="0"/>
          </a:p>
        </p:txBody>
      </p:sp>
      <p:sp>
        <p:nvSpPr>
          <p:cNvPr id="37" name="Shape 31"/>
          <p:cNvSpPr/>
          <p:nvPr/>
        </p:nvSpPr>
        <p:spPr>
          <a:xfrm>
            <a:off x="4153662" y="3282696"/>
            <a:ext cx="219456" cy="219456"/>
          </a:xfrm>
          <a:prstGeom prst="ellipse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2"/>
          <p:cNvSpPr/>
          <p:nvPr/>
        </p:nvSpPr>
        <p:spPr>
          <a:xfrm>
            <a:off x="4263390" y="3502152"/>
            <a:ext cx="0" cy="201168"/>
          </a:xfrm>
          <a:prstGeom prst="line">
            <a:avLst/>
          </a:prstGeom>
          <a:noFill/>
          <a:ln w="12700">
            <a:solidFill>
              <a:srgbClr val="D354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3"/>
          <p:cNvSpPr/>
          <p:nvPr/>
        </p:nvSpPr>
        <p:spPr>
          <a:xfrm>
            <a:off x="3760470" y="37216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</a:rPr>
              <a:t>2022</a:t>
            </a:r>
            <a:endParaRPr lang="en-US" sz="1100" dirty="0"/>
          </a:p>
        </p:txBody>
      </p:sp>
      <p:sp>
        <p:nvSpPr>
          <p:cNvPr id="40" name="Text 34"/>
          <p:cNvSpPr/>
          <p:nvPr/>
        </p:nvSpPr>
        <p:spPr>
          <a:xfrm>
            <a:off x="3714750" y="393192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</a:rPr>
              <a:t>IndiHome</a:t>
            </a:r>
            <a:endParaRPr lang="en-US" sz="1000" dirty="0"/>
          </a:p>
        </p:txBody>
      </p:sp>
      <p:sp>
        <p:nvSpPr>
          <p:cNvPr id="41" name="Text 35"/>
          <p:cNvSpPr/>
          <p:nvPr/>
        </p:nvSpPr>
        <p:spPr>
          <a:xfrm>
            <a:off x="3669030" y="413308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B7280"/>
                </a:solidFill>
              </a:rPr>
              <a:t>26 juta browsing</a:t>
            </a:r>
            <a:endParaRPr lang="en-US" sz="850" dirty="0"/>
          </a:p>
        </p:txBody>
      </p:sp>
      <p:sp>
        <p:nvSpPr>
          <p:cNvPr id="42" name="Shape 36"/>
          <p:cNvSpPr/>
          <p:nvPr/>
        </p:nvSpPr>
        <p:spPr>
          <a:xfrm>
            <a:off x="6153912" y="3282696"/>
            <a:ext cx="219456" cy="21945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37"/>
          <p:cNvSpPr/>
          <p:nvPr/>
        </p:nvSpPr>
        <p:spPr>
          <a:xfrm>
            <a:off x="6263640" y="3502152"/>
            <a:ext cx="0" cy="201168"/>
          </a:xfrm>
          <a:prstGeom prst="line">
            <a:avLst/>
          </a:prstGeom>
          <a:noFill/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38"/>
          <p:cNvSpPr/>
          <p:nvPr/>
        </p:nvSpPr>
        <p:spPr>
          <a:xfrm>
            <a:off x="5760720" y="37216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</a:rPr>
              <a:t>2023</a:t>
            </a:r>
            <a:endParaRPr lang="en-US" sz="1100" dirty="0"/>
          </a:p>
        </p:txBody>
      </p:sp>
      <p:sp>
        <p:nvSpPr>
          <p:cNvPr id="45" name="Text 39"/>
          <p:cNvSpPr/>
          <p:nvPr/>
        </p:nvSpPr>
        <p:spPr>
          <a:xfrm>
            <a:off x="5715000" y="393192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</a:rPr>
              <a:t>BSI</a:t>
            </a:r>
            <a:endParaRPr lang="en-US" sz="1000" dirty="0"/>
          </a:p>
        </p:txBody>
      </p:sp>
      <p:sp>
        <p:nvSpPr>
          <p:cNvPr id="46" name="Text 40"/>
          <p:cNvSpPr/>
          <p:nvPr/>
        </p:nvSpPr>
        <p:spPr>
          <a:xfrm>
            <a:off x="5669280" y="413308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B7280"/>
                </a:solidFill>
              </a:rPr>
              <a:t>1.5 TB · 3 hari</a:t>
            </a:r>
            <a:endParaRPr lang="en-US" sz="850" dirty="0"/>
          </a:p>
        </p:txBody>
      </p:sp>
      <p:sp>
        <p:nvSpPr>
          <p:cNvPr id="47" name="Shape 41"/>
          <p:cNvSpPr/>
          <p:nvPr/>
        </p:nvSpPr>
        <p:spPr>
          <a:xfrm>
            <a:off x="8394192" y="3282696"/>
            <a:ext cx="219456" cy="21945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2"/>
          <p:cNvSpPr/>
          <p:nvPr/>
        </p:nvSpPr>
        <p:spPr>
          <a:xfrm>
            <a:off x="8503920" y="3502152"/>
            <a:ext cx="0" cy="201168"/>
          </a:xfrm>
          <a:prstGeom prst="line">
            <a:avLst/>
          </a:prstGeom>
          <a:noFill/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3"/>
          <p:cNvSpPr/>
          <p:nvPr/>
        </p:nvSpPr>
        <p:spPr>
          <a:xfrm>
            <a:off x="8001000" y="37216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</a:rPr>
              <a:t>2024</a:t>
            </a:r>
            <a:endParaRPr lang="en-US" sz="1100" dirty="0"/>
          </a:p>
        </p:txBody>
      </p:sp>
      <p:sp>
        <p:nvSpPr>
          <p:cNvPr id="50" name="Text 44"/>
          <p:cNvSpPr/>
          <p:nvPr/>
        </p:nvSpPr>
        <p:spPr>
          <a:xfrm>
            <a:off x="7955280" y="393192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</a:rPr>
              <a:t>PDNS</a:t>
            </a:r>
            <a:endParaRPr lang="en-US" sz="1000" dirty="0"/>
          </a:p>
        </p:txBody>
      </p:sp>
      <p:sp>
        <p:nvSpPr>
          <p:cNvPr id="51" name="Text 45"/>
          <p:cNvSpPr/>
          <p:nvPr/>
        </p:nvSpPr>
        <p:spPr>
          <a:xfrm>
            <a:off x="7909560" y="413308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B7280"/>
                </a:solidFill>
              </a:rPr>
              <a:t>282 instansi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18872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9808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</a:rPr>
              <a:t>OWASP TOP 10 (2021)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274320" y="749808"/>
            <a:ext cx="34747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274320" y="749808"/>
            <a:ext cx="3474720" cy="274320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20040" y="7498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0B1F3A"/>
                </a:solidFill>
              </a:rPr>
              <a:t>APA ITU OWASP?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347472" y="1069848"/>
            <a:ext cx="3337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▸  Open Worldwide Application Security Project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347472" y="1408176"/>
            <a:ext cx="3337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▸  Komunitas nirlaba &amp; open-source sejak 2001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47472" y="1746504"/>
            <a:ext cx="3337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▸  Standar wajib: PCI-DSS · ISO 27001 · OJK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347472" y="2084832"/>
            <a:ext cx="3337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▸  Produk: Top 10 · ASVS · ZAP · Dep-Check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840480" y="749808"/>
            <a:ext cx="5029200" cy="1737360"/>
          </a:xfrm>
          <a:prstGeom prst="rect">
            <a:avLst/>
          </a:prstGeom>
          <a:solidFill>
            <a:srgbClr val="162D50"/>
          </a:solidFill>
          <a:ln w="12700">
            <a:solidFill>
              <a:srgbClr val="16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931920" y="79552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B04A"/>
                </a:solidFill>
              </a:rPr>
              <a:t>🔗  LINK RESMI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3931920" y="109728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7E8C8"/>
                </a:solidFill>
              </a:rPr>
              <a:t>Website Utama: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5623560" y="109728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BFFA"/>
                </a:solidFill>
              </a:rPr>
              <a:t>owasp.org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3931920" y="136245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7E8C8"/>
                </a:solidFill>
              </a:rPr>
              <a:t>OWASP Top 10 (2021):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5623560" y="136245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BFFA"/>
                </a:solidFill>
              </a:rPr>
              <a:t>owasp.org/www-project-top-ten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3931920" y="162763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7E8C8"/>
                </a:solidFill>
              </a:rPr>
              <a:t>Detail Tiap Kategori: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5623560" y="162763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BFFA"/>
                </a:solidFill>
              </a:rPr>
              <a:t>owasp.org/Top10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3931920" y="189280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7E8C8"/>
                </a:solidFill>
              </a:rPr>
              <a:t>Cheat Sheet Series: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5623560" y="189280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BFFA"/>
                </a:solidFill>
              </a:rPr>
              <a:t>cheatsheetseries.owasp.org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3931920" y="215798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7E8C8"/>
                </a:solidFill>
              </a:rPr>
              <a:t>Dependency-Check: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5623560" y="215798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BFFA"/>
                </a:solidFill>
              </a:rPr>
              <a:t>jeremylong.github.io/DependencyCheck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274320" y="2587752"/>
            <a:ext cx="8595360" cy="2743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274320" y="2587752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#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749808" y="2587752"/>
            <a:ext cx="30175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</a:rPr>
              <a:t>Kategori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3785616" y="2587752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</a:rPr>
              <a:t>Contoh di Spring Boot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7991856" y="2587752"/>
            <a:ext cx="5486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274320" y="2862072"/>
            <a:ext cx="859536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274320" y="2862072"/>
            <a:ext cx="475488" cy="21945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274320" y="2862072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A01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786384" y="2862072"/>
            <a:ext cx="2962656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Broken Access Control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785616" y="2862072"/>
            <a:ext cx="4169664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280"/>
                </a:solidFill>
              </a:rPr>
              <a:t>Missing @PreAuthorize, IDOR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274320" y="3081528"/>
            <a:ext cx="8595360" cy="219456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274320" y="3081528"/>
            <a:ext cx="475488" cy="21945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274320" y="3081528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A02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786384" y="3081528"/>
            <a:ext cx="2962656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Cryptographic Failures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3785616" y="3081528"/>
            <a:ext cx="4169664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280"/>
                </a:solidFill>
              </a:rPr>
              <a:t>Password tanpa BCrypt, no HTTPS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274320" y="3300984"/>
            <a:ext cx="859536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7"/>
          <p:cNvSpPr/>
          <p:nvPr/>
        </p:nvSpPr>
        <p:spPr>
          <a:xfrm>
            <a:off x="274320" y="3300984"/>
            <a:ext cx="475488" cy="21945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274320" y="3300984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A03</a:t>
            </a:r>
            <a:endParaRPr lang="en-US" sz="850" dirty="0"/>
          </a:p>
        </p:txBody>
      </p:sp>
      <p:sp>
        <p:nvSpPr>
          <p:cNvPr id="42" name="Text 39"/>
          <p:cNvSpPr/>
          <p:nvPr/>
        </p:nvSpPr>
        <p:spPr>
          <a:xfrm>
            <a:off x="786384" y="3300984"/>
            <a:ext cx="2962656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B1F3A"/>
                </a:solidFill>
              </a:rPr>
              <a:t>⭐ Injection</a:t>
            </a:r>
            <a:endParaRPr lang="en-US" sz="850" dirty="0"/>
          </a:p>
        </p:txBody>
      </p:sp>
      <p:sp>
        <p:nvSpPr>
          <p:cNvPr id="43" name="Text 40"/>
          <p:cNvSpPr/>
          <p:nvPr/>
        </p:nvSpPr>
        <p:spPr>
          <a:xfrm>
            <a:off x="3785616" y="3300984"/>
            <a:ext cx="4169664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280"/>
                </a:solidFill>
              </a:rPr>
              <a:t>SQL Injection via string concat</a:t>
            </a:r>
            <a:endParaRPr lang="en-US" sz="800" dirty="0"/>
          </a:p>
        </p:txBody>
      </p:sp>
      <p:sp>
        <p:nvSpPr>
          <p:cNvPr id="44" name="Shape 41"/>
          <p:cNvSpPr/>
          <p:nvPr/>
        </p:nvSpPr>
        <p:spPr>
          <a:xfrm>
            <a:off x="274320" y="3520440"/>
            <a:ext cx="8595360" cy="219456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2"/>
          <p:cNvSpPr/>
          <p:nvPr/>
        </p:nvSpPr>
        <p:spPr>
          <a:xfrm>
            <a:off x="274320" y="3520440"/>
            <a:ext cx="475488" cy="219456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274320" y="3520440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A04</a:t>
            </a:r>
            <a:endParaRPr lang="en-US" sz="850" dirty="0"/>
          </a:p>
        </p:txBody>
      </p:sp>
      <p:sp>
        <p:nvSpPr>
          <p:cNvPr id="47" name="Text 44"/>
          <p:cNvSpPr/>
          <p:nvPr/>
        </p:nvSpPr>
        <p:spPr>
          <a:xfrm>
            <a:off x="786384" y="3520440"/>
            <a:ext cx="2962656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Insecure Design</a:t>
            </a:r>
            <a:endParaRPr lang="en-US" sz="850" dirty="0"/>
          </a:p>
        </p:txBody>
      </p:sp>
      <p:sp>
        <p:nvSpPr>
          <p:cNvPr id="48" name="Text 45"/>
          <p:cNvSpPr/>
          <p:nvPr/>
        </p:nvSpPr>
        <p:spPr>
          <a:xfrm>
            <a:off x="3785616" y="3520440"/>
            <a:ext cx="4169664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280"/>
                </a:solidFill>
              </a:rPr>
              <a:t>No rate limiting, no threat model</a:t>
            </a:r>
            <a:endParaRPr lang="en-US" sz="800" dirty="0"/>
          </a:p>
        </p:txBody>
      </p:sp>
      <p:sp>
        <p:nvSpPr>
          <p:cNvPr id="49" name="Shape 46"/>
          <p:cNvSpPr/>
          <p:nvPr/>
        </p:nvSpPr>
        <p:spPr>
          <a:xfrm>
            <a:off x="274320" y="3739896"/>
            <a:ext cx="859536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7"/>
          <p:cNvSpPr/>
          <p:nvPr/>
        </p:nvSpPr>
        <p:spPr>
          <a:xfrm>
            <a:off x="274320" y="3739896"/>
            <a:ext cx="475488" cy="219456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8"/>
          <p:cNvSpPr/>
          <p:nvPr/>
        </p:nvSpPr>
        <p:spPr>
          <a:xfrm>
            <a:off x="274320" y="3739896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A05</a:t>
            </a:r>
            <a:endParaRPr lang="en-US" sz="850" dirty="0"/>
          </a:p>
        </p:txBody>
      </p:sp>
      <p:sp>
        <p:nvSpPr>
          <p:cNvPr id="52" name="Text 49"/>
          <p:cNvSpPr/>
          <p:nvPr/>
        </p:nvSpPr>
        <p:spPr>
          <a:xfrm>
            <a:off x="786384" y="3739896"/>
            <a:ext cx="2962656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B1F3A"/>
                </a:solidFill>
              </a:rPr>
              <a:t>⭐ Security Misconfiguration</a:t>
            </a:r>
            <a:endParaRPr lang="en-US" sz="850" dirty="0"/>
          </a:p>
        </p:txBody>
      </p:sp>
      <p:sp>
        <p:nvSpPr>
          <p:cNvPr id="53" name="Text 50"/>
          <p:cNvSpPr/>
          <p:nvPr/>
        </p:nvSpPr>
        <p:spPr>
          <a:xfrm>
            <a:off x="3785616" y="3739896"/>
            <a:ext cx="4169664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280"/>
                </a:solidFill>
              </a:rPr>
              <a:t>CORS *, H2 Console di production</a:t>
            </a:r>
            <a:endParaRPr lang="en-US" sz="800" dirty="0"/>
          </a:p>
        </p:txBody>
      </p:sp>
      <p:sp>
        <p:nvSpPr>
          <p:cNvPr id="54" name="Shape 51"/>
          <p:cNvSpPr/>
          <p:nvPr/>
        </p:nvSpPr>
        <p:spPr>
          <a:xfrm>
            <a:off x="274320" y="3959352"/>
            <a:ext cx="8595360" cy="219456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2"/>
          <p:cNvSpPr/>
          <p:nvPr/>
        </p:nvSpPr>
        <p:spPr>
          <a:xfrm>
            <a:off x="274320" y="3959352"/>
            <a:ext cx="475488" cy="219456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3"/>
          <p:cNvSpPr/>
          <p:nvPr/>
        </p:nvSpPr>
        <p:spPr>
          <a:xfrm>
            <a:off x="274320" y="3959352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A06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786384" y="3959352"/>
            <a:ext cx="2962656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B1F3A"/>
                </a:solidFill>
              </a:rPr>
              <a:t>⭐ Vulnerable &amp; Outdated Components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3785616" y="3959352"/>
            <a:ext cx="4169664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280"/>
                </a:solidFill>
              </a:rPr>
              <a:t>Log4j 2.14.1, Jackson lama</a:t>
            </a:r>
            <a:endParaRPr lang="en-US" sz="800" dirty="0"/>
          </a:p>
        </p:txBody>
      </p:sp>
      <p:sp>
        <p:nvSpPr>
          <p:cNvPr id="59" name="Shape 56"/>
          <p:cNvSpPr/>
          <p:nvPr/>
        </p:nvSpPr>
        <p:spPr>
          <a:xfrm>
            <a:off x="274320" y="4178808"/>
            <a:ext cx="859536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7"/>
          <p:cNvSpPr/>
          <p:nvPr/>
        </p:nvSpPr>
        <p:spPr>
          <a:xfrm>
            <a:off x="274320" y="4178808"/>
            <a:ext cx="475488" cy="21945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8"/>
          <p:cNvSpPr/>
          <p:nvPr/>
        </p:nvSpPr>
        <p:spPr>
          <a:xfrm>
            <a:off x="274320" y="4178808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A07</a:t>
            </a:r>
            <a:endParaRPr lang="en-US" sz="850" dirty="0"/>
          </a:p>
        </p:txBody>
      </p:sp>
      <p:sp>
        <p:nvSpPr>
          <p:cNvPr id="62" name="Text 59"/>
          <p:cNvSpPr/>
          <p:nvPr/>
        </p:nvSpPr>
        <p:spPr>
          <a:xfrm>
            <a:off x="786384" y="4178808"/>
            <a:ext cx="2962656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Auth &amp; Identification Failures</a:t>
            </a:r>
            <a:endParaRPr lang="en-US" sz="850" dirty="0"/>
          </a:p>
        </p:txBody>
      </p:sp>
      <p:sp>
        <p:nvSpPr>
          <p:cNvPr id="63" name="Text 60"/>
          <p:cNvSpPr/>
          <p:nvPr/>
        </p:nvSpPr>
        <p:spPr>
          <a:xfrm>
            <a:off x="3785616" y="4178808"/>
            <a:ext cx="4169664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280"/>
                </a:solidFill>
              </a:rPr>
              <a:t>No brute-force protection</a:t>
            </a:r>
            <a:endParaRPr lang="en-US" sz="800" dirty="0"/>
          </a:p>
        </p:txBody>
      </p:sp>
      <p:sp>
        <p:nvSpPr>
          <p:cNvPr id="64" name="Shape 61"/>
          <p:cNvSpPr/>
          <p:nvPr/>
        </p:nvSpPr>
        <p:spPr>
          <a:xfrm>
            <a:off x="274320" y="4398264"/>
            <a:ext cx="8595360" cy="219456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2"/>
          <p:cNvSpPr/>
          <p:nvPr/>
        </p:nvSpPr>
        <p:spPr>
          <a:xfrm>
            <a:off x="274320" y="4398264"/>
            <a:ext cx="475488" cy="21945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3"/>
          <p:cNvSpPr/>
          <p:nvPr/>
        </p:nvSpPr>
        <p:spPr>
          <a:xfrm>
            <a:off x="274320" y="4398264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A08</a:t>
            </a:r>
            <a:endParaRPr lang="en-US" sz="850" dirty="0"/>
          </a:p>
        </p:txBody>
      </p:sp>
      <p:sp>
        <p:nvSpPr>
          <p:cNvPr id="67" name="Text 64"/>
          <p:cNvSpPr/>
          <p:nvPr/>
        </p:nvSpPr>
        <p:spPr>
          <a:xfrm>
            <a:off x="786384" y="4398264"/>
            <a:ext cx="2962656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Software &amp; Data Integrity Failures</a:t>
            </a:r>
            <a:endParaRPr lang="en-US" sz="850" dirty="0"/>
          </a:p>
        </p:txBody>
      </p:sp>
      <p:sp>
        <p:nvSpPr>
          <p:cNvPr id="68" name="Text 65"/>
          <p:cNvSpPr/>
          <p:nvPr/>
        </p:nvSpPr>
        <p:spPr>
          <a:xfrm>
            <a:off x="3785616" y="4398264"/>
            <a:ext cx="4169664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280"/>
                </a:solidFill>
              </a:rPr>
              <a:t>Supply chain attack, unsigned deps</a:t>
            </a:r>
            <a:endParaRPr lang="en-US" sz="800" dirty="0"/>
          </a:p>
        </p:txBody>
      </p:sp>
      <p:sp>
        <p:nvSpPr>
          <p:cNvPr id="69" name="Shape 66"/>
          <p:cNvSpPr/>
          <p:nvPr/>
        </p:nvSpPr>
        <p:spPr>
          <a:xfrm>
            <a:off x="274320" y="4617720"/>
            <a:ext cx="859536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7"/>
          <p:cNvSpPr/>
          <p:nvPr/>
        </p:nvSpPr>
        <p:spPr>
          <a:xfrm>
            <a:off x="274320" y="4617720"/>
            <a:ext cx="475488" cy="21945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8"/>
          <p:cNvSpPr/>
          <p:nvPr/>
        </p:nvSpPr>
        <p:spPr>
          <a:xfrm>
            <a:off x="274320" y="4617720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A09</a:t>
            </a:r>
            <a:endParaRPr lang="en-US" sz="850" dirty="0"/>
          </a:p>
        </p:txBody>
      </p:sp>
      <p:sp>
        <p:nvSpPr>
          <p:cNvPr id="72" name="Text 69"/>
          <p:cNvSpPr/>
          <p:nvPr/>
        </p:nvSpPr>
        <p:spPr>
          <a:xfrm>
            <a:off x="786384" y="4617720"/>
            <a:ext cx="2962656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Security Logging &amp; Monitoring</a:t>
            </a:r>
            <a:endParaRPr lang="en-US" sz="850" dirty="0"/>
          </a:p>
        </p:txBody>
      </p:sp>
      <p:sp>
        <p:nvSpPr>
          <p:cNvPr id="73" name="Text 70"/>
          <p:cNvSpPr/>
          <p:nvPr/>
        </p:nvSpPr>
        <p:spPr>
          <a:xfrm>
            <a:off x="3785616" y="4617720"/>
            <a:ext cx="4169664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280"/>
                </a:solidFill>
              </a:rPr>
              <a:t>207 hari rata-rata detect breach</a:t>
            </a:r>
            <a:endParaRPr lang="en-US" sz="800" dirty="0"/>
          </a:p>
        </p:txBody>
      </p:sp>
      <p:sp>
        <p:nvSpPr>
          <p:cNvPr id="74" name="Shape 71"/>
          <p:cNvSpPr/>
          <p:nvPr/>
        </p:nvSpPr>
        <p:spPr>
          <a:xfrm>
            <a:off x="274320" y="4837176"/>
            <a:ext cx="8595360" cy="219456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2"/>
          <p:cNvSpPr/>
          <p:nvPr/>
        </p:nvSpPr>
        <p:spPr>
          <a:xfrm>
            <a:off x="274320" y="4837176"/>
            <a:ext cx="475488" cy="21945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3"/>
          <p:cNvSpPr/>
          <p:nvPr/>
        </p:nvSpPr>
        <p:spPr>
          <a:xfrm>
            <a:off x="274320" y="4837176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A10</a:t>
            </a:r>
            <a:endParaRPr lang="en-US" sz="850" dirty="0"/>
          </a:p>
        </p:txBody>
      </p:sp>
      <p:sp>
        <p:nvSpPr>
          <p:cNvPr id="77" name="Text 74"/>
          <p:cNvSpPr/>
          <p:nvPr/>
        </p:nvSpPr>
        <p:spPr>
          <a:xfrm>
            <a:off x="786384" y="4837176"/>
            <a:ext cx="2962656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SSRF</a:t>
            </a:r>
            <a:endParaRPr lang="en-US" sz="850" dirty="0"/>
          </a:p>
        </p:txBody>
      </p:sp>
      <p:sp>
        <p:nvSpPr>
          <p:cNvPr id="78" name="Text 75"/>
          <p:cNvSpPr/>
          <p:nvPr/>
        </p:nvSpPr>
        <p:spPr>
          <a:xfrm>
            <a:off x="3785616" y="4837176"/>
            <a:ext cx="4169664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280"/>
                </a:solidFill>
              </a:rPr>
              <a:t>RestTemplate dengan URL dari user</a:t>
            </a:r>
            <a:endParaRPr lang="en-US" sz="800" dirty="0"/>
          </a:p>
        </p:txBody>
      </p:sp>
      <p:sp>
        <p:nvSpPr>
          <p:cNvPr id="79" name="Text 76"/>
          <p:cNvSpPr/>
          <p:nvPr/>
        </p:nvSpPr>
        <p:spPr>
          <a:xfrm>
            <a:off x="274320" y="49651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8922A"/>
                </a:solidFill>
              </a:rPr>
              <a:t>⭐ Paling relevan di ekosistem Java/Spring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18872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9808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FFFFFF"/>
                </a:solidFill>
              </a:rPr>
              <a:t>CVE: KETIKA LIBRARY KAMU JADI PINTU MASUK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274320" y="749808"/>
            <a:ext cx="30175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274320" y="749808"/>
            <a:ext cx="3017520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20040" y="7498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FFFFFF"/>
                </a:solidFill>
              </a:rPr>
              <a:t>APA ITU CVE?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347472" y="106984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▸  Common Vulnerabilities &amp; Exposures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347472" y="139903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▸  Dikelola MITRE · Didanai US-CERT/CISA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47472" y="1728216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▸  Berdiri 1999 · 240.000+ CVE (2024)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347472" y="20574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▸  Format: CVE-[TAHUN]-[ID]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401568" y="749808"/>
            <a:ext cx="24688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401568" y="749808"/>
            <a:ext cx="2468880" cy="2743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447288" y="7498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FFFFFF"/>
                </a:solidFill>
              </a:rPr>
              <a:t>CVSS SCORE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3456432" y="1069848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9.0–10.0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4233672" y="10698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392B"/>
                </a:solidFill>
              </a:rPr>
              <a:t>CRITICAL 🔴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5166360" y="106984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≤48 jam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3456432" y="1399032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7.0–8.9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4233672" y="13990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35400"/>
                </a:solidFill>
              </a:rPr>
              <a:t>HIGH 🟠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5166360" y="139903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≤7 hari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3456432" y="172821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4.0–6.9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4233672" y="17282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97706"/>
                </a:solidFill>
              </a:rPr>
              <a:t>MEDIUM 🟡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5166360" y="172821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≤30 hari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3456432" y="205740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0.1–3.9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4233672" y="2057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B7280"/>
                </a:solidFill>
              </a:rPr>
              <a:t>LOW ⬜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5166360" y="205740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Monitor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5989320" y="749808"/>
            <a:ext cx="2880360" cy="1645920"/>
          </a:xfrm>
          <a:prstGeom prst="rect">
            <a:avLst/>
          </a:prstGeom>
          <a:solidFill>
            <a:srgbClr val="162D50"/>
          </a:solidFill>
          <a:ln w="12700">
            <a:solidFill>
              <a:srgbClr val="16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6080760" y="7955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B04A"/>
                </a:solidFill>
              </a:rPr>
              <a:t>🔗  DATABASE CVE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6080760" y="109728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7E8C8"/>
                </a:solidFill>
              </a:rPr>
              <a:t>MITRE CVE: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7150608" y="109728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BFFA"/>
                </a:solidFill>
              </a:rPr>
              <a:t>cve.mitre.org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6080760" y="1353312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7E8C8"/>
                </a:solidFill>
              </a:rPr>
              <a:t>NVD Database: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7150608" y="135331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BFFA"/>
                </a:solidFill>
              </a:rPr>
              <a:t>nvd.nist.gov</a:t>
            </a:r>
            <a:endParaRPr lang="en-US" sz="750" dirty="0"/>
          </a:p>
        </p:txBody>
      </p:sp>
      <p:sp>
        <p:nvSpPr>
          <p:cNvPr id="33" name="Text 30"/>
          <p:cNvSpPr/>
          <p:nvPr/>
        </p:nvSpPr>
        <p:spPr>
          <a:xfrm>
            <a:off x="6080760" y="1609344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7E8C8"/>
                </a:solidFill>
              </a:rPr>
              <a:t>Cari CVE: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150608" y="1609344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BFFA"/>
                </a:solidFill>
              </a:rPr>
              <a:t>nvd.nist.gov/vuln/search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6080760" y="1865376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7E8C8"/>
                </a:solidFill>
              </a:rPr>
              <a:t>CVSS Calc: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7150608" y="1865376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BFFA"/>
                </a:solidFill>
              </a:rPr>
              <a:t>first.org/cvss/calculator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6080760" y="2121408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7E8C8"/>
                </a:solidFill>
              </a:rPr>
              <a:t>CISA KEV: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7150608" y="212140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BFFA"/>
                </a:solidFill>
              </a:rPr>
              <a:t>cisa.gov/known-exploited</a:t>
            </a:r>
            <a:endParaRPr lang="en-US" sz="750" dirty="0"/>
          </a:p>
        </p:txBody>
      </p:sp>
      <p:sp>
        <p:nvSpPr>
          <p:cNvPr id="39" name="Shape 36"/>
          <p:cNvSpPr/>
          <p:nvPr/>
        </p:nvSpPr>
        <p:spPr>
          <a:xfrm>
            <a:off x="274320" y="2496312"/>
            <a:ext cx="8595360" cy="2743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320040" y="24963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CVE ID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1901952" y="24963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Library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4709160" y="249631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CVSS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5669280" y="24963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Dampak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8366760" y="24963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Tahun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274320" y="2770632"/>
            <a:ext cx="859536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320040" y="2770632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CVE-2021-44228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1901952" y="2770632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Log4j-core 2.x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4709160" y="2816352"/>
            <a:ext cx="658368" cy="210312"/>
          </a:xfrm>
          <a:prstGeom prst="roundRect">
            <a:avLst>
              <a:gd name="adj" fmla="val 21739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6"/>
          <p:cNvSpPr/>
          <p:nvPr/>
        </p:nvSpPr>
        <p:spPr>
          <a:xfrm>
            <a:off x="4709160" y="2816352"/>
            <a:ext cx="6583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10.0</a:t>
            </a:r>
            <a:endParaRPr lang="en-US" sz="950" dirty="0"/>
          </a:p>
        </p:txBody>
      </p:sp>
      <p:sp>
        <p:nvSpPr>
          <p:cNvPr id="50" name="Text 47"/>
          <p:cNvSpPr/>
          <p:nvPr/>
        </p:nvSpPr>
        <p:spPr>
          <a:xfrm>
            <a:off x="5669280" y="2770632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</a:rPr>
              <a:t>RCE tanpa auth</a:t>
            </a:r>
            <a:endParaRPr lang="en-US" sz="900" dirty="0"/>
          </a:p>
        </p:txBody>
      </p:sp>
      <p:sp>
        <p:nvSpPr>
          <p:cNvPr id="51" name="Text 48"/>
          <p:cNvSpPr/>
          <p:nvPr/>
        </p:nvSpPr>
        <p:spPr>
          <a:xfrm>
            <a:off x="8366760" y="2770632"/>
            <a:ext cx="457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</a:rPr>
              <a:t>2021</a:t>
            </a:r>
            <a:endParaRPr lang="en-US" sz="900" dirty="0"/>
          </a:p>
        </p:txBody>
      </p:sp>
      <p:sp>
        <p:nvSpPr>
          <p:cNvPr id="52" name="Shape 49"/>
          <p:cNvSpPr/>
          <p:nvPr/>
        </p:nvSpPr>
        <p:spPr>
          <a:xfrm>
            <a:off x="274320" y="3072384"/>
            <a:ext cx="8595360" cy="30175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0"/>
          <p:cNvSpPr/>
          <p:nvPr/>
        </p:nvSpPr>
        <p:spPr>
          <a:xfrm>
            <a:off x="320040" y="3072384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CVE-2022-22965</a:t>
            </a:r>
            <a:endParaRPr lang="en-US" sz="900" dirty="0"/>
          </a:p>
        </p:txBody>
      </p:sp>
      <p:sp>
        <p:nvSpPr>
          <p:cNvPr id="54" name="Text 51"/>
          <p:cNvSpPr/>
          <p:nvPr/>
        </p:nvSpPr>
        <p:spPr>
          <a:xfrm>
            <a:off x="1901952" y="3072384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Spring Framework</a:t>
            </a:r>
            <a:endParaRPr lang="en-US" sz="900" dirty="0"/>
          </a:p>
        </p:txBody>
      </p:sp>
      <p:sp>
        <p:nvSpPr>
          <p:cNvPr id="55" name="Shape 52"/>
          <p:cNvSpPr/>
          <p:nvPr/>
        </p:nvSpPr>
        <p:spPr>
          <a:xfrm>
            <a:off x="4709160" y="3118104"/>
            <a:ext cx="658368" cy="210312"/>
          </a:xfrm>
          <a:prstGeom prst="roundRect">
            <a:avLst>
              <a:gd name="adj" fmla="val 21739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3"/>
          <p:cNvSpPr/>
          <p:nvPr/>
        </p:nvSpPr>
        <p:spPr>
          <a:xfrm>
            <a:off x="4709160" y="3118104"/>
            <a:ext cx="6583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9.8</a:t>
            </a:r>
            <a:endParaRPr lang="en-US" sz="950" dirty="0"/>
          </a:p>
        </p:txBody>
      </p:sp>
      <p:sp>
        <p:nvSpPr>
          <p:cNvPr id="57" name="Text 54"/>
          <p:cNvSpPr/>
          <p:nvPr/>
        </p:nvSpPr>
        <p:spPr>
          <a:xfrm>
            <a:off x="5669280" y="3072384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</a:rPr>
              <a:t>RCE via data binding</a:t>
            </a:r>
            <a:endParaRPr lang="en-US" sz="900" dirty="0"/>
          </a:p>
        </p:txBody>
      </p:sp>
      <p:sp>
        <p:nvSpPr>
          <p:cNvPr id="58" name="Text 55"/>
          <p:cNvSpPr/>
          <p:nvPr/>
        </p:nvSpPr>
        <p:spPr>
          <a:xfrm>
            <a:off x="8366760" y="3072384"/>
            <a:ext cx="457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</a:rPr>
              <a:t>2022</a:t>
            </a:r>
            <a:endParaRPr lang="en-US" sz="900" dirty="0"/>
          </a:p>
        </p:txBody>
      </p:sp>
      <p:sp>
        <p:nvSpPr>
          <p:cNvPr id="59" name="Shape 56"/>
          <p:cNvSpPr/>
          <p:nvPr/>
        </p:nvSpPr>
        <p:spPr>
          <a:xfrm>
            <a:off x="274320" y="3374136"/>
            <a:ext cx="859536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7"/>
          <p:cNvSpPr/>
          <p:nvPr/>
        </p:nvSpPr>
        <p:spPr>
          <a:xfrm>
            <a:off x="320040" y="3374136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CVE-2022-22963</a:t>
            </a:r>
            <a:endParaRPr lang="en-US" sz="900" dirty="0"/>
          </a:p>
        </p:txBody>
      </p:sp>
      <p:sp>
        <p:nvSpPr>
          <p:cNvPr id="61" name="Text 58"/>
          <p:cNvSpPr/>
          <p:nvPr/>
        </p:nvSpPr>
        <p:spPr>
          <a:xfrm>
            <a:off x="1901952" y="3374136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Spring Cloud Function</a:t>
            </a:r>
            <a:endParaRPr lang="en-US" sz="900" dirty="0"/>
          </a:p>
        </p:txBody>
      </p:sp>
      <p:sp>
        <p:nvSpPr>
          <p:cNvPr id="62" name="Shape 59"/>
          <p:cNvSpPr/>
          <p:nvPr/>
        </p:nvSpPr>
        <p:spPr>
          <a:xfrm>
            <a:off x="4709160" y="3419856"/>
            <a:ext cx="658368" cy="210312"/>
          </a:xfrm>
          <a:prstGeom prst="roundRect">
            <a:avLst>
              <a:gd name="adj" fmla="val 21739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0"/>
          <p:cNvSpPr/>
          <p:nvPr/>
        </p:nvSpPr>
        <p:spPr>
          <a:xfrm>
            <a:off x="4709160" y="3419856"/>
            <a:ext cx="6583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9.8</a:t>
            </a:r>
            <a:endParaRPr lang="en-US" sz="950" dirty="0"/>
          </a:p>
        </p:txBody>
      </p:sp>
      <p:sp>
        <p:nvSpPr>
          <p:cNvPr id="64" name="Text 61"/>
          <p:cNvSpPr/>
          <p:nvPr/>
        </p:nvSpPr>
        <p:spPr>
          <a:xfrm>
            <a:off x="5669280" y="3374136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</a:rPr>
              <a:t>RCE</a:t>
            </a:r>
            <a:endParaRPr lang="en-US" sz="900" dirty="0"/>
          </a:p>
        </p:txBody>
      </p:sp>
      <p:sp>
        <p:nvSpPr>
          <p:cNvPr id="65" name="Text 62"/>
          <p:cNvSpPr/>
          <p:nvPr/>
        </p:nvSpPr>
        <p:spPr>
          <a:xfrm>
            <a:off x="8366760" y="3374136"/>
            <a:ext cx="457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</a:rPr>
              <a:t>2022</a:t>
            </a:r>
            <a:endParaRPr lang="en-US" sz="900" dirty="0"/>
          </a:p>
        </p:txBody>
      </p:sp>
      <p:sp>
        <p:nvSpPr>
          <p:cNvPr id="66" name="Shape 63"/>
          <p:cNvSpPr/>
          <p:nvPr/>
        </p:nvSpPr>
        <p:spPr>
          <a:xfrm>
            <a:off x="274320" y="3675888"/>
            <a:ext cx="8595360" cy="30175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4"/>
          <p:cNvSpPr/>
          <p:nvPr/>
        </p:nvSpPr>
        <p:spPr>
          <a:xfrm>
            <a:off x="320040" y="3675888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CVE-2019-17267</a:t>
            </a:r>
            <a:endParaRPr lang="en-US" sz="900" dirty="0"/>
          </a:p>
        </p:txBody>
      </p:sp>
      <p:sp>
        <p:nvSpPr>
          <p:cNvPr id="68" name="Text 65"/>
          <p:cNvSpPr/>
          <p:nvPr/>
        </p:nvSpPr>
        <p:spPr>
          <a:xfrm>
            <a:off x="1901952" y="3675888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jackson-databind</a:t>
            </a:r>
            <a:endParaRPr lang="en-US" sz="900" dirty="0"/>
          </a:p>
        </p:txBody>
      </p:sp>
      <p:sp>
        <p:nvSpPr>
          <p:cNvPr id="69" name="Shape 66"/>
          <p:cNvSpPr/>
          <p:nvPr/>
        </p:nvSpPr>
        <p:spPr>
          <a:xfrm>
            <a:off x="4709160" y="3721608"/>
            <a:ext cx="658368" cy="210312"/>
          </a:xfrm>
          <a:prstGeom prst="roundRect">
            <a:avLst>
              <a:gd name="adj" fmla="val 21739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7"/>
          <p:cNvSpPr/>
          <p:nvPr/>
        </p:nvSpPr>
        <p:spPr>
          <a:xfrm>
            <a:off x="4709160" y="3721608"/>
            <a:ext cx="6583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9.8</a:t>
            </a:r>
            <a:endParaRPr lang="en-US" sz="950" dirty="0"/>
          </a:p>
        </p:txBody>
      </p:sp>
      <p:sp>
        <p:nvSpPr>
          <p:cNvPr id="71" name="Text 68"/>
          <p:cNvSpPr/>
          <p:nvPr/>
        </p:nvSpPr>
        <p:spPr>
          <a:xfrm>
            <a:off x="5669280" y="3675888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</a:rPr>
              <a:t>RCE deserialization</a:t>
            </a:r>
            <a:endParaRPr lang="en-US" sz="900" dirty="0"/>
          </a:p>
        </p:txBody>
      </p:sp>
      <p:sp>
        <p:nvSpPr>
          <p:cNvPr id="72" name="Text 69"/>
          <p:cNvSpPr/>
          <p:nvPr/>
        </p:nvSpPr>
        <p:spPr>
          <a:xfrm>
            <a:off x="8366760" y="3675888"/>
            <a:ext cx="457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</a:rPr>
              <a:t>2019</a:t>
            </a:r>
            <a:endParaRPr lang="en-US" sz="900" dirty="0"/>
          </a:p>
        </p:txBody>
      </p:sp>
      <p:sp>
        <p:nvSpPr>
          <p:cNvPr id="73" name="Shape 70"/>
          <p:cNvSpPr/>
          <p:nvPr/>
        </p:nvSpPr>
        <p:spPr>
          <a:xfrm>
            <a:off x="274320" y="3977640"/>
            <a:ext cx="859536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1"/>
          <p:cNvSpPr/>
          <p:nvPr/>
        </p:nvSpPr>
        <p:spPr>
          <a:xfrm>
            <a:off x="320040" y="3977640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CVE-2023-34055</a:t>
            </a:r>
            <a:endParaRPr lang="en-US" sz="900" dirty="0"/>
          </a:p>
        </p:txBody>
      </p:sp>
      <p:sp>
        <p:nvSpPr>
          <p:cNvPr id="75" name="Text 72"/>
          <p:cNvSpPr/>
          <p:nvPr/>
        </p:nvSpPr>
        <p:spPr>
          <a:xfrm>
            <a:off x="1901952" y="3977640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Spring Boot Actuator</a:t>
            </a:r>
            <a:endParaRPr lang="en-US" sz="900" dirty="0"/>
          </a:p>
        </p:txBody>
      </p:sp>
      <p:sp>
        <p:nvSpPr>
          <p:cNvPr id="76" name="Shape 73"/>
          <p:cNvSpPr/>
          <p:nvPr/>
        </p:nvSpPr>
        <p:spPr>
          <a:xfrm>
            <a:off x="4709160" y="4023360"/>
            <a:ext cx="658368" cy="210312"/>
          </a:xfrm>
          <a:prstGeom prst="roundRect">
            <a:avLst>
              <a:gd name="adj" fmla="val 21739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4"/>
          <p:cNvSpPr/>
          <p:nvPr/>
        </p:nvSpPr>
        <p:spPr>
          <a:xfrm>
            <a:off x="4709160" y="4023360"/>
            <a:ext cx="6583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5.3</a:t>
            </a:r>
            <a:endParaRPr lang="en-US" sz="950" dirty="0"/>
          </a:p>
        </p:txBody>
      </p:sp>
      <p:sp>
        <p:nvSpPr>
          <p:cNvPr id="78" name="Text 75"/>
          <p:cNvSpPr/>
          <p:nvPr/>
        </p:nvSpPr>
        <p:spPr>
          <a:xfrm>
            <a:off x="5669280" y="3977640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</a:rPr>
              <a:t>DoS</a:t>
            </a:r>
            <a:endParaRPr lang="en-US" sz="900" dirty="0"/>
          </a:p>
        </p:txBody>
      </p:sp>
      <p:sp>
        <p:nvSpPr>
          <p:cNvPr id="79" name="Text 76"/>
          <p:cNvSpPr/>
          <p:nvPr/>
        </p:nvSpPr>
        <p:spPr>
          <a:xfrm>
            <a:off x="8366760" y="3977640"/>
            <a:ext cx="457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</a:rPr>
              <a:t>2023</a:t>
            </a:r>
            <a:endParaRPr lang="en-US" sz="900" dirty="0"/>
          </a:p>
        </p:txBody>
      </p:sp>
      <p:sp>
        <p:nvSpPr>
          <p:cNvPr id="80" name="Text 77"/>
          <p:cNvSpPr/>
          <p:nvPr/>
        </p:nvSpPr>
        <p:spPr>
          <a:xfrm>
            <a:off x="274320" y="43159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1F3A"/>
                </a:solidFill>
              </a:rPr>
              <a:t>CVE Lifecycle: </a:t>
            </a:r>
            <a:endParaRPr lang="en-US" sz="900" dirty="0"/>
          </a:p>
        </p:txBody>
      </p:sp>
      <p:sp>
        <p:nvSpPr>
          <p:cNvPr id="81" name="Shape 78"/>
          <p:cNvSpPr/>
          <p:nvPr/>
        </p:nvSpPr>
        <p:spPr>
          <a:xfrm>
            <a:off x="1508760" y="4315968"/>
            <a:ext cx="1097280" cy="256032"/>
          </a:xfrm>
          <a:prstGeom prst="roundRect">
            <a:avLst>
              <a:gd name="adj" fmla="val 25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79"/>
          <p:cNvSpPr/>
          <p:nvPr/>
        </p:nvSpPr>
        <p:spPr>
          <a:xfrm>
            <a:off x="1508760" y="43159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Penemuan</a:t>
            </a:r>
            <a:endParaRPr lang="en-US" sz="800" dirty="0"/>
          </a:p>
        </p:txBody>
      </p:sp>
      <p:sp>
        <p:nvSpPr>
          <p:cNvPr id="83" name="Shape 80"/>
          <p:cNvSpPr/>
          <p:nvPr/>
        </p:nvSpPr>
        <p:spPr>
          <a:xfrm>
            <a:off x="2606040" y="4443984"/>
            <a:ext cx="13716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Shape 81"/>
          <p:cNvSpPr/>
          <p:nvPr/>
        </p:nvSpPr>
        <p:spPr>
          <a:xfrm>
            <a:off x="2743200" y="4315968"/>
            <a:ext cx="1097280" cy="256032"/>
          </a:xfrm>
          <a:prstGeom prst="roundRect">
            <a:avLst>
              <a:gd name="adj" fmla="val 25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82"/>
          <p:cNvSpPr/>
          <p:nvPr/>
        </p:nvSpPr>
        <p:spPr>
          <a:xfrm>
            <a:off x="2743200" y="43159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Disclosure</a:t>
            </a:r>
            <a:endParaRPr lang="en-US" sz="800" dirty="0"/>
          </a:p>
        </p:txBody>
      </p:sp>
      <p:sp>
        <p:nvSpPr>
          <p:cNvPr id="86" name="Shape 83"/>
          <p:cNvSpPr/>
          <p:nvPr/>
        </p:nvSpPr>
        <p:spPr>
          <a:xfrm>
            <a:off x="3840480" y="4443984"/>
            <a:ext cx="13716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Shape 84"/>
          <p:cNvSpPr/>
          <p:nvPr/>
        </p:nvSpPr>
        <p:spPr>
          <a:xfrm>
            <a:off x="3977640" y="4315968"/>
            <a:ext cx="1097280" cy="256032"/>
          </a:xfrm>
          <a:prstGeom prst="roundRect">
            <a:avLst>
              <a:gd name="adj" fmla="val 25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85"/>
          <p:cNvSpPr/>
          <p:nvPr/>
        </p:nvSpPr>
        <p:spPr>
          <a:xfrm>
            <a:off x="3977640" y="43159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CVE Assigned</a:t>
            </a:r>
            <a:endParaRPr lang="en-US" sz="800" dirty="0"/>
          </a:p>
        </p:txBody>
      </p:sp>
      <p:sp>
        <p:nvSpPr>
          <p:cNvPr id="89" name="Shape 86"/>
          <p:cNvSpPr/>
          <p:nvPr/>
        </p:nvSpPr>
        <p:spPr>
          <a:xfrm>
            <a:off x="5074920" y="4443984"/>
            <a:ext cx="13716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Shape 87"/>
          <p:cNvSpPr/>
          <p:nvPr/>
        </p:nvSpPr>
        <p:spPr>
          <a:xfrm>
            <a:off x="5212080" y="4315968"/>
            <a:ext cx="1097280" cy="256032"/>
          </a:xfrm>
          <a:prstGeom prst="roundRect">
            <a:avLst>
              <a:gd name="adj" fmla="val 25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88"/>
          <p:cNvSpPr/>
          <p:nvPr/>
        </p:nvSpPr>
        <p:spPr>
          <a:xfrm>
            <a:off x="5212080" y="43159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Exploit</a:t>
            </a:r>
            <a:endParaRPr lang="en-US" sz="800" dirty="0"/>
          </a:p>
        </p:txBody>
      </p:sp>
      <p:sp>
        <p:nvSpPr>
          <p:cNvPr id="92" name="Shape 89"/>
          <p:cNvSpPr/>
          <p:nvPr/>
        </p:nvSpPr>
        <p:spPr>
          <a:xfrm>
            <a:off x="6309360" y="4443984"/>
            <a:ext cx="13716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Shape 90"/>
          <p:cNvSpPr/>
          <p:nvPr/>
        </p:nvSpPr>
        <p:spPr>
          <a:xfrm>
            <a:off x="6446520" y="4315968"/>
            <a:ext cx="1097280" cy="256032"/>
          </a:xfrm>
          <a:prstGeom prst="roundRect">
            <a:avLst>
              <a:gd name="adj" fmla="val 25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 91"/>
          <p:cNvSpPr/>
          <p:nvPr/>
        </p:nvSpPr>
        <p:spPr>
          <a:xfrm>
            <a:off x="6446520" y="43159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Patch</a:t>
            </a:r>
            <a:endParaRPr lang="en-US" sz="800" dirty="0"/>
          </a:p>
        </p:txBody>
      </p:sp>
      <p:sp>
        <p:nvSpPr>
          <p:cNvPr id="95" name="Shape 92"/>
          <p:cNvSpPr/>
          <p:nvPr/>
        </p:nvSpPr>
        <p:spPr>
          <a:xfrm>
            <a:off x="7543800" y="4443984"/>
            <a:ext cx="13716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Shape 93"/>
          <p:cNvSpPr/>
          <p:nvPr/>
        </p:nvSpPr>
        <p:spPr>
          <a:xfrm>
            <a:off x="7680960" y="4315968"/>
            <a:ext cx="1097280" cy="256032"/>
          </a:xfrm>
          <a:prstGeom prst="roundRect">
            <a:avLst>
              <a:gd name="adj" fmla="val 25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Text 94"/>
          <p:cNvSpPr/>
          <p:nvPr/>
        </p:nvSpPr>
        <p:spPr>
          <a:xfrm>
            <a:off x="7680960" y="43159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Adopsi</a:t>
            </a:r>
            <a:endParaRPr lang="en-US" sz="800" dirty="0"/>
          </a:p>
        </p:txBody>
      </p:sp>
      <p:sp>
        <p:nvSpPr>
          <p:cNvPr id="98" name="Text 95"/>
          <p:cNvSpPr/>
          <p:nvPr/>
        </p:nvSpPr>
        <p:spPr>
          <a:xfrm>
            <a:off x="4526280" y="459943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C0392B"/>
                </a:solidFill>
              </a:rPr>
              <a:t>⚠ Window paling berbahaya — avg. 60 hari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18872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9808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</a:rPr>
              <a:t>TOOLS KEAMANAN: DARI SCAN KE FIX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274320" y="749808"/>
            <a:ext cx="2743200" cy="42245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274320" y="749808"/>
            <a:ext cx="2743200" cy="3200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" y="795528"/>
            <a:ext cx="219456" cy="2194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749808"/>
            <a:ext cx="2359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SAST — Static Code Analysis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365760" y="1133856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</a:rPr>
              <a:t>SonarQube / SonarCloud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365760" y="1417320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▸  Scan source code secara statis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365760" y="1709928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▸  Deteksi: SQLi, hardcoded creds, XXE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365760" y="2002536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▸  Integrasi: Maven plugin · GitHub Actions · IDE (SonarLint)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365760" y="2295144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▸  Free: SonarCloud (public repo)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365760" y="2670048"/>
            <a:ext cx="2578608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411480" y="2679192"/>
            <a:ext cx="248716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mvn sonar:sonar \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-Dsonar.projectKey=myapp</a:t>
            </a:r>
            <a:endParaRPr lang="en-US" sz="750" dirty="0"/>
          </a:p>
        </p:txBody>
      </p:sp>
      <p:sp>
        <p:nvSpPr>
          <p:cNvPr id="16" name="Text 12"/>
          <p:cNvSpPr/>
          <p:nvPr/>
        </p:nvSpPr>
        <p:spPr>
          <a:xfrm>
            <a:off x="365760" y="324612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7280"/>
                </a:solidFill>
              </a:rPr>
              <a:t>Alternatif: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1051560" y="32461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SpotBugs · Semgrep · Checkmarx</a:t>
            </a:r>
            <a:endParaRPr lang="en-US" sz="800" dirty="0"/>
          </a:p>
        </p:txBody>
      </p:sp>
      <p:sp>
        <p:nvSpPr>
          <p:cNvPr id="18" name="Shape 14"/>
          <p:cNvSpPr/>
          <p:nvPr/>
        </p:nvSpPr>
        <p:spPr>
          <a:xfrm>
            <a:off x="365760" y="3502152"/>
            <a:ext cx="25603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365760" y="3566160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B82F6"/>
                </a:solidFill>
              </a:rPr>
              <a:t>🔗  sonarqube.org  |  sonarcloud.io</a:t>
            </a:r>
            <a:endParaRPr lang="en-US" sz="750" dirty="0"/>
          </a:p>
        </p:txBody>
      </p:sp>
      <p:sp>
        <p:nvSpPr>
          <p:cNvPr id="20" name="Shape 16"/>
          <p:cNvSpPr/>
          <p:nvPr/>
        </p:nvSpPr>
        <p:spPr>
          <a:xfrm>
            <a:off x="3218688" y="749808"/>
            <a:ext cx="2743200" cy="42245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3218688" y="749808"/>
            <a:ext cx="2743200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2696" y="795528"/>
            <a:ext cx="219456" cy="21945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3557016" y="749808"/>
            <a:ext cx="2359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SCA — Dependency Scanning</a:t>
            </a:r>
            <a:endParaRPr lang="en-US" sz="850" dirty="0"/>
          </a:p>
        </p:txBody>
      </p:sp>
      <p:sp>
        <p:nvSpPr>
          <p:cNvPr id="24" name="Text 19"/>
          <p:cNvSpPr/>
          <p:nvPr/>
        </p:nvSpPr>
        <p:spPr>
          <a:xfrm>
            <a:off x="3310128" y="1133856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</a:rPr>
              <a:t>OWASP Dependency-Check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3310128" y="1417320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▸  Scan pom.xml → cocokkan dgn NVD</a:t>
            </a:r>
            <a:endParaRPr lang="en-US" sz="850" dirty="0"/>
          </a:p>
        </p:txBody>
      </p:sp>
      <p:sp>
        <p:nvSpPr>
          <p:cNvPr id="26" name="Text 21"/>
          <p:cNvSpPr/>
          <p:nvPr/>
        </p:nvSpPr>
        <p:spPr>
          <a:xfrm>
            <a:off x="3310128" y="1709928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▸  Output: laporan HTML dengan CVE + CVSS</a:t>
            </a:r>
            <a:endParaRPr lang="en-US" sz="850" dirty="0"/>
          </a:p>
        </p:txBody>
      </p:sp>
      <p:sp>
        <p:nvSpPr>
          <p:cNvPr id="27" name="Text 22"/>
          <p:cNvSpPr/>
          <p:nvPr/>
        </p:nvSpPr>
        <p:spPr>
          <a:xfrm>
            <a:off x="3310128" y="2002536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▸  failBuildOnCVSS=7 → auto-fail build</a:t>
            </a:r>
            <a:endParaRPr lang="en-US" sz="850" dirty="0"/>
          </a:p>
        </p:txBody>
      </p:sp>
      <p:sp>
        <p:nvSpPr>
          <p:cNvPr id="28" name="Text 23"/>
          <p:cNvSpPr/>
          <p:nvPr/>
        </p:nvSpPr>
        <p:spPr>
          <a:xfrm>
            <a:off x="3310128" y="2295144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▸  Integrasi: Maven plugin · CI/CD</a:t>
            </a:r>
            <a:endParaRPr lang="en-US" sz="850" dirty="0"/>
          </a:p>
        </p:txBody>
      </p:sp>
      <p:sp>
        <p:nvSpPr>
          <p:cNvPr id="29" name="Shape 24"/>
          <p:cNvSpPr/>
          <p:nvPr/>
        </p:nvSpPr>
        <p:spPr>
          <a:xfrm>
            <a:off x="3310128" y="2670048"/>
            <a:ext cx="2578608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5"/>
          <p:cNvSpPr/>
          <p:nvPr/>
        </p:nvSpPr>
        <p:spPr>
          <a:xfrm>
            <a:off x="3355848" y="2679192"/>
            <a:ext cx="248716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mvn dependency-check:check \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-DfailBuildOnCVSS=7</a:t>
            </a:r>
            <a:endParaRPr lang="en-US" sz="750" dirty="0"/>
          </a:p>
        </p:txBody>
      </p:sp>
      <p:sp>
        <p:nvSpPr>
          <p:cNvPr id="31" name="Text 26"/>
          <p:cNvSpPr/>
          <p:nvPr/>
        </p:nvSpPr>
        <p:spPr>
          <a:xfrm>
            <a:off x="3310128" y="324612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7280"/>
                </a:solidFill>
              </a:rPr>
              <a:t>Alternatif:</a:t>
            </a:r>
            <a:endParaRPr lang="en-US" sz="800" dirty="0"/>
          </a:p>
        </p:txBody>
      </p:sp>
      <p:sp>
        <p:nvSpPr>
          <p:cNvPr id="32" name="Text 27"/>
          <p:cNvSpPr/>
          <p:nvPr/>
        </p:nvSpPr>
        <p:spPr>
          <a:xfrm>
            <a:off x="3995928" y="32461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Snyk · GitHub Dependabot · Dep-Track</a:t>
            </a:r>
            <a:endParaRPr lang="en-US" sz="800" dirty="0"/>
          </a:p>
        </p:txBody>
      </p:sp>
      <p:sp>
        <p:nvSpPr>
          <p:cNvPr id="33" name="Shape 28"/>
          <p:cNvSpPr/>
          <p:nvPr/>
        </p:nvSpPr>
        <p:spPr>
          <a:xfrm>
            <a:off x="3310128" y="3502152"/>
            <a:ext cx="25603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9"/>
          <p:cNvSpPr/>
          <p:nvPr/>
        </p:nvSpPr>
        <p:spPr>
          <a:xfrm>
            <a:off x="3310128" y="3566160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B82F6"/>
                </a:solidFill>
              </a:rPr>
              <a:t>🔗  jeremylong.github.io/DependencyCheck</a:t>
            </a:r>
            <a:endParaRPr lang="en-US" sz="750" dirty="0"/>
          </a:p>
        </p:txBody>
      </p:sp>
      <p:sp>
        <p:nvSpPr>
          <p:cNvPr id="35" name="Shape 30"/>
          <p:cNvSpPr/>
          <p:nvPr/>
        </p:nvSpPr>
        <p:spPr>
          <a:xfrm>
            <a:off x="6163056" y="749808"/>
            <a:ext cx="2743200" cy="42245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1"/>
          <p:cNvSpPr/>
          <p:nvPr/>
        </p:nvSpPr>
        <p:spPr>
          <a:xfrm>
            <a:off x="6163056" y="749808"/>
            <a:ext cx="2743200" cy="320040"/>
          </a:xfrm>
          <a:prstGeom prst="rect">
            <a:avLst/>
          </a:prstGeom>
          <a:solidFill>
            <a:srgbClr val="1A6B4A"/>
          </a:solidFill>
          <a:ln w="12700">
            <a:solidFill>
              <a:srgbClr val="1A6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7064" y="795528"/>
            <a:ext cx="219456" cy="219456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6501384" y="749808"/>
            <a:ext cx="2359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DAST &amp; Runtime Scanning</a:t>
            </a:r>
            <a:endParaRPr lang="en-US" sz="850" dirty="0"/>
          </a:p>
        </p:txBody>
      </p:sp>
      <p:sp>
        <p:nvSpPr>
          <p:cNvPr id="39" name="Text 33"/>
          <p:cNvSpPr/>
          <p:nvPr/>
        </p:nvSpPr>
        <p:spPr>
          <a:xfrm>
            <a:off x="6254496" y="1133856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6B4A"/>
                </a:solidFill>
              </a:rPr>
              <a:t>OWASP ZAP · Trivy · AWS Hub</a:t>
            </a:r>
            <a:endParaRPr lang="en-US" sz="1100" dirty="0"/>
          </a:p>
        </p:txBody>
      </p:sp>
      <p:sp>
        <p:nvSpPr>
          <p:cNvPr id="40" name="Text 34"/>
          <p:cNvSpPr/>
          <p:nvPr/>
        </p:nvSpPr>
        <p:spPr>
          <a:xfrm>
            <a:off x="6254496" y="1417320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▸  ZAP: Dynamic scan thd aplikasi hidup</a:t>
            </a:r>
            <a:endParaRPr lang="en-US" sz="850" dirty="0"/>
          </a:p>
        </p:txBody>
      </p:sp>
      <p:sp>
        <p:nvSpPr>
          <p:cNvPr id="41" name="Text 35"/>
          <p:cNvSpPr/>
          <p:nvPr/>
        </p:nvSpPr>
        <p:spPr>
          <a:xfrm>
            <a:off x="6254496" y="1709928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▸  Trivy: Scan Docker image untuk CVE</a:t>
            </a:r>
            <a:endParaRPr lang="en-US" sz="850" dirty="0"/>
          </a:p>
        </p:txBody>
      </p:sp>
      <p:sp>
        <p:nvSpPr>
          <p:cNvPr id="42" name="Text 36"/>
          <p:cNvSpPr/>
          <p:nvPr/>
        </p:nvSpPr>
        <p:spPr>
          <a:xfrm>
            <a:off x="6254496" y="2002536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▸  AWS Security Hub: Cloud monitoring</a:t>
            </a:r>
            <a:endParaRPr lang="en-US" sz="850" dirty="0"/>
          </a:p>
        </p:txBody>
      </p:sp>
      <p:sp>
        <p:nvSpPr>
          <p:cNvPr id="43" name="Text 37"/>
          <p:cNvSpPr/>
          <p:nvPr/>
        </p:nvSpPr>
        <p:spPr>
          <a:xfrm>
            <a:off x="6254496" y="2295144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▸  Cocok untuk: CI/CD pipeline &amp; prod</a:t>
            </a:r>
            <a:endParaRPr lang="en-US" sz="850" dirty="0"/>
          </a:p>
        </p:txBody>
      </p:sp>
      <p:sp>
        <p:nvSpPr>
          <p:cNvPr id="44" name="Shape 38"/>
          <p:cNvSpPr/>
          <p:nvPr/>
        </p:nvSpPr>
        <p:spPr>
          <a:xfrm>
            <a:off x="6254496" y="2670048"/>
            <a:ext cx="2578608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39"/>
          <p:cNvSpPr/>
          <p:nvPr/>
        </p:nvSpPr>
        <p:spPr>
          <a:xfrm>
            <a:off x="6300216" y="2679192"/>
            <a:ext cx="248716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Trivy scan Docker image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trivy image myapp:latest</a:t>
            </a:r>
            <a:endParaRPr lang="en-US" sz="750" dirty="0"/>
          </a:p>
        </p:txBody>
      </p:sp>
      <p:sp>
        <p:nvSpPr>
          <p:cNvPr id="46" name="Text 40"/>
          <p:cNvSpPr/>
          <p:nvPr/>
        </p:nvSpPr>
        <p:spPr>
          <a:xfrm>
            <a:off x="6254496" y="324612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7280"/>
                </a:solidFill>
              </a:rPr>
              <a:t>Alternatif:</a:t>
            </a:r>
            <a:endParaRPr lang="en-US" sz="800" dirty="0"/>
          </a:p>
        </p:txBody>
      </p:sp>
      <p:sp>
        <p:nvSpPr>
          <p:cNvPr id="47" name="Text 41"/>
          <p:cNvSpPr/>
          <p:nvPr/>
        </p:nvSpPr>
        <p:spPr>
          <a:xfrm>
            <a:off x="6940296" y="32461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Burp Suite · Nessus · Aqua Security</a:t>
            </a:r>
            <a:endParaRPr lang="en-US" sz="800" dirty="0"/>
          </a:p>
        </p:txBody>
      </p:sp>
      <p:sp>
        <p:nvSpPr>
          <p:cNvPr id="48" name="Shape 42"/>
          <p:cNvSpPr/>
          <p:nvPr/>
        </p:nvSpPr>
        <p:spPr>
          <a:xfrm>
            <a:off x="6254496" y="3502152"/>
            <a:ext cx="25603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3"/>
          <p:cNvSpPr/>
          <p:nvPr/>
        </p:nvSpPr>
        <p:spPr>
          <a:xfrm>
            <a:off x="6254496" y="3566160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B82F6"/>
                </a:solidFill>
              </a:rPr>
              <a:t>🔗  zaproxy.org  |  trivy.dev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18872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9808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FFFFF"/>
                </a:solidFill>
              </a:rPr>
              <a:t>KASUS INDONESIA: BELAJAR DARI YANG SUDAH TERJADI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274320" y="804672"/>
            <a:ext cx="274320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274320" y="804672"/>
            <a:ext cx="2743200" cy="2926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47472" y="80467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PDNS 2024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2084832" y="804672"/>
            <a:ext cx="91440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CRITICAL 🔴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65760" y="1152144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▸ Brain Cipher ransomware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365760" y="1380744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▸ 282 instansi lumpuh · Tebusan $8 juta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65760" y="1682496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</a:rPr>
              <a:t>OWASP: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960120" y="1682496"/>
            <a:ext cx="566928" cy="2011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960120" y="168249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8B04A"/>
                </a:solidFill>
              </a:rPr>
              <a:t>A06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1600200" y="1682496"/>
            <a:ext cx="566928" cy="2011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1600200" y="168249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8B04A"/>
                </a:solidFill>
              </a:rPr>
              <a:t>A05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2240280" y="1682496"/>
            <a:ext cx="566928" cy="2011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2240280" y="168249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8B04A"/>
                </a:solidFill>
              </a:rPr>
              <a:t>A09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365760" y="1956816"/>
            <a:ext cx="25603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365760" y="2020824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1A6B4A"/>
                </a:solidFill>
              </a:rPr>
              <a:t>💡 Patch terjadwal · Backup 3-2-1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3218688" y="804672"/>
            <a:ext cx="274320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3218688" y="804672"/>
            <a:ext cx="2743200" cy="2926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3291840" y="80467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BSI 2023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5029200" y="804672"/>
            <a:ext cx="91440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CRITICAL 🔴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3310128" y="1152144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▸ LockBit 3.0 · 1.5 TB data bocor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3310128" y="1380744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▸ ATM &amp; m-banking down 3 hari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3310128" y="1682496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</a:rPr>
              <a:t>OWASP: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3904488" y="1682496"/>
            <a:ext cx="566928" cy="2011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3904488" y="168249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8B04A"/>
                </a:solidFill>
              </a:rPr>
              <a:t>A05</a:t>
            </a:r>
            <a:endParaRPr lang="en-US" sz="750" dirty="0"/>
          </a:p>
        </p:txBody>
      </p:sp>
      <p:sp>
        <p:nvSpPr>
          <p:cNvPr id="29" name="Shape 26"/>
          <p:cNvSpPr/>
          <p:nvPr/>
        </p:nvSpPr>
        <p:spPr>
          <a:xfrm>
            <a:off x="4544568" y="1682496"/>
            <a:ext cx="566928" cy="2011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4544568" y="168249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8B04A"/>
                </a:solidFill>
              </a:rPr>
              <a:t>A09</a:t>
            </a:r>
            <a:endParaRPr lang="en-US" sz="750" dirty="0"/>
          </a:p>
        </p:txBody>
      </p:sp>
      <p:sp>
        <p:nvSpPr>
          <p:cNvPr id="31" name="Shape 28"/>
          <p:cNvSpPr/>
          <p:nvPr/>
        </p:nvSpPr>
        <p:spPr>
          <a:xfrm>
            <a:off x="5184648" y="1682496"/>
            <a:ext cx="566928" cy="2011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5184648" y="168249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8B04A"/>
                </a:solidFill>
              </a:rPr>
              <a:t>A02</a:t>
            </a:r>
            <a:endParaRPr lang="en-US" sz="750" dirty="0"/>
          </a:p>
        </p:txBody>
      </p:sp>
      <p:sp>
        <p:nvSpPr>
          <p:cNvPr id="33" name="Shape 30"/>
          <p:cNvSpPr/>
          <p:nvPr/>
        </p:nvSpPr>
        <p:spPr>
          <a:xfrm>
            <a:off x="3310128" y="1956816"/>
            <a:ext cx="25603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3310128" y="2020824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1A6B4A"/>
                </a:solidFill>
              </a:rPr>
              <a:t>💡 Segmentasi jaringan · IR Plan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6163056" y="804672"/>
            <a:ext cx="274320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6163056" y="804672"/>
            <a:ext cx="2743200" cy="292608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6236208" y="80467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BPJS Kesehatan 2021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7973568" y="804672"/>
            <a:ext cx="91440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HIGH 🟠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6254496" y="1152144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▸ 279 juta data penduduk dijual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6254496" y="1380744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▸ API endpoint tanpa autentikasi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6254496" y="1682496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</a:rPr>
              <a:t>OWASP:</a:t>
            </a:r>
            <a:endParaRPr lang="en-US" sz="750" dirty="0"/>
          </a:p>
        </p:txBody>
      </p:sp>
      <p:sp>
        <p:nvSpPr>
          <p:cNvPr id="42" name="Shape 39"/>
          <p:cNvSpPr/>
          <p:nvPr/>
        </p:nvSpPr>
        <p:spPr>
          <a:xfrm>
            <a:off x="6848856" y="1682496"/>
            <a:ext cx="566928" cy="2011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6848856" y="168249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8B04A"/>
                </a:solidFill>
              </a:rPr>
              <a:t>A01</a:t>
            </a:r>
            <a:endParaRPr lang="en-US" sz="750" dirty="0"/>
          </a:p>
        </p:txBody>
      </p:sp>
      <p:sp>
        <p:nvSpPr>
          <p:cNvPr id="44" name="Shape 41"/>
          <p:cNvSpPr/>
          <p:nvPr/>
        </p:nvSpPr>
        <p:spPr>
          <a:xfrm>
            <a:off x="7488936" y="1682496"/>
            <a:ext cx="566928" cy="2011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7488936" y="168249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8B04A"/>
                </a:solidFill>
              </a:rPr>
              <a:t>A05</a:t>
            </a:r>
            <a:endParaRPr lang="en-US" sz="750" dirty="0"/>
          </a:p>
        </p:txBody>
      </p:sp>
      <p:sp>
        <p:nvSpPr>
          <p:cNvPr id="46" name="Shape 43"/>
          <p:cNvSpPr/>
          <p:nvPr/>
        </p:nvSpPr>
        <p:spPr>
          <a:xfrm>
            <a:off x="8129016" y="1682496"/>
            <a:ext cx="566928" cy="2011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4"/>
          <p:cNvSpPr/>
          <p:nvPr/>
        </p:nvSpPr>
        <p:spPr>
          <a:xfrm>
            <a:off x="8129016" y="168249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8B04A"/>
                </a:solidFill>
              </a:rPr>
              <a:t>A02</a:t>
            </a:r>
            <a:endParaRPr lang="en-US" sz="750" dirty="0"/>
          </a:p>
        </p:txBody>
      </p:sp>
      <p:sp>
        <p:nvSpPr>
          <p:cNvPr id="48" name="Shape 45"/>
          <p:cNvSpPr/>
          <p:nvPr/>
        </p:nvSpPr>
        <p:spPr>
          <a:xfrm>
            <a:off x="6254496" y="1956816"/>
            <a:ext cx="25603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6"/>
          <p:cNvSpPr/>
          <p:nvPr/>
        </p:nvSpPr>
        <p:spPr>
          <a:xfrm>
            <a:off x="6254496" y="2020824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1A6B4A"/>
                </a:solidFill>
              </a:rPr>
              <a:t>💡 API security wajib · Data minimization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274320" y="2926080"/>
            <a:ext cx="274320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1" name="Shape 48"/>
          <p:cNvSpPr/>
          <p:nvPr/>
        </p:nvSpPr>
        <p:spPr>
          <a:xfrm>
            <a:off x="274320" y="2926080"/>
            <a:ext cx="2743200" cy="292608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9"/>
          <p:cNvSpPr/>
          <p:nvPr/>
        </p:nvSpPr>
        <p:spPr>
          <a:xfrm>
            <a:off x="347472" y="29260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Tokopedia 2019</a:t>
            </a:r>
            <a:endParaRPr lang="en-US" sz="950" dirty="0"/>
          </a:p>
        </p:txBody>
      </p:sp>
      <p:sp>
        <p:nvSpPr>
          <p:cNvPr id="53" name="Text 50"/>
          <p:cNvSpPr/>
          <p:nvPr/>
        </p:nvSpPr>
        <p:spPr>
          <a:xfrm>
            <a:off x="2084832" y="2926080"/>
            <a:ext cx="91440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HIGH 🟠</a:t>
            </a:r>
            <a:endParaRPr lang="en-US" sz="800" dirty="0"/>
          </a:p>
        </p:txBody>
      </p:sp>
      <p:sp>
        <p:nvSpPr>
          <p:cNvPr id="54" name="Text 51"/>
          <p:cNvSpPr/>
          <p:nvPr/>
        </p:nvSpPr>
        <p:spPr>
          <a:xfrm>
            <a:off x="365760" y="3273552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▸ 91 juta akun + 7 juta merchant</a:t>
            </a:r>
            <a:endParaRPr lang="en-US" sz="850" dirty="0"/>
          </a:p>
        </p:txBody>
      </p:sp>
      <p:sp>
        <p:nvSpPr>
          <p:cNvPr id="55" name="Text 52"/>
          <p:cNvSpPr/>
          <p:nvPr/>
        </p:nvSpPr>
        <p:spPr>
          <a:xfrm>
            <a:off x="365760" y="3502152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▸ Dugaan SQLi / unauthorized API</a:t>
            </a:r>
            <a:endParaRPr lang="en-US" sz="850" dirty="0"/>
          </a:p>
        </p:txBody>
      </p:sp>
      <p:sp>
        <p:nvSpPr>
          <p:cNvPr id="56" name="Text 53"/>
          <p:cNvSpPr/>
          <p:nvPr/>
        </p:nvSpPr>
        <p:spPr>
          <a:xfrm>
            <a:off x="365760" y="3803904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</a:rPr>
              <a:t>OWASP:</a:t>
            </a:r>
            <a:endParaRPr lang="en-US" sz="750" dirty="0"/>
          </a:p>
        </p:txBody>
      </p:sp>
      <p:sp>
        <p:nvSpPr>
          <p:cNvPr id="57" name="Shape 54"/>
          <p:cNvSpPr/>
          <p:nvPr/>
        </p:nvSpPr>
        <p:spPr>
          <a:xfrm>
            <a:off x="960120" y="3803904"/>
            <a:ext cx="566928" cy="2011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5"/>
          <p:cNvSpPr/>
          <p:nvPr/>
        </p:nvSpPr>
        <p:spPr>
          <a:xfrm>
            <a:off x="960120" y="380390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8B04A"/>
                </a:solidFill>
              </a:rPr>
              <a:t>A03</a:t>
            </a:r>
            <a:endParaRPr lang="en-US" sz="750" dirty="0"/>
          </a:p>
        </p:txBody>
      </p:sp>
      <p:sp>
        <p:nvSpPr>
          <p:cNvPr id="59" name="Shape 56"/>
          <p:cNvSpPr/>
          <p:nvPr/>
        </p:nvSpPr>
        <p:spPr>
          <a:xfrm>
            <a:off x="1600200" y="3803904"/>
            <a:ext cx="566928" cy="2011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7"/>
          <p:cNvSpPr/>
          <p:nvPr/>
        </p:nvSpPr>
        <p:spPr>
          <a:xfrm>
            <a:off x="1600200" y="380390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8B04A"/>
                </a:solidFill>
              </a:rPr>
              <a:t>A07</a:t>
            </a:r>
            <a:endParaRPr lang="en-US" sz="750" dirty="0"/>
          </a:p>
        </p:txBody>
      </p:sp>
      <p:sp>
        <p:nvSpPr>
          <p:cNvPr id="61" name="Shape 58"/>
          <p:cNvSpPr/>
          <p:nvPr/>
        </p:nvSpPr>
        <p:spPr>
          <a:xfrm>
            <a:off x="2240280" y="3803904"/>
            <a:ext cx="566928" cy="2011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59"/>
          <p:cNvSpPr/>
          <p:nvPr/>
        </p:nvSpPr>
        <p:spPr>
          <a:xfrm>
            <a:off x="2240280" y="380390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8B04A"/>
                </a:solidFill>
              </a:rPr>
              <a:t>A02</a:t>
            </a:r>
            <a:endParaRPr lang="en-US" sz="750" dirty="0"/>
          </a:p>
        </p:txBody>
      </p:sp>
      <p:sp>
        <p:nvSpPr>
          <p:cNvPr id="63" name="Shape 60"/>
          <p:cNvSpPr/>
          <p:nvPr/>
        </p:nvSpPr>
        <p:spPr>
          <a:xfrm>
            <a:off x="365760" y="4078224"/>
            <a:ext cx="25603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1"/>
          <p:cNvSpPr/>
          <p:nvPr/>
        </p:nvSpPr>
        <p:spPr>
          <a:xfrm>
            <a:off x="365760" y="4142232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1A6B4A"/>
                </a:solidFill>
              </a:rPr>
              <a:t>💡 BCrypt password · Anomaly detection</a:t>
            </a:r>
            <a:endParaRPr lang="en-US" sz="800" dirty="0"/>
          </a:p>
        </p:txBody>
      </p:sp>
      <p:sp>
        <p:nvSpPr>
          <p:cNvPr id="65" name="Shape 62"/>
          <p:cNvSpPr/>
          <p:nvPr/>
        </p:nvSpPr>
        <p:spPr>
          <a:xfrm>
            <a:off x="3218688" y="2926080"/>
            <a:ext cx="274320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6" name="Shape 63"/>
          <p:cNvSpPr/>
          <p:nvPr/>
        </p:nvSpPr>
        <p:spPr>
          <a:xfrm>
            <a:off x="3218688" y="2926080"/>
            <a:ext cx="2743200" cy="2926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4"/>
          <p:cNvSpPr/>
          <p:nvPr/>
        </p:nvSpPr>
        <p:spPr>
          <a:xfrm>
            <a:off x="3291840" y="29260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IndiHome 2022</a:t>
            </a:r>
            <a:endParaRPr lang="en-US" sz="950" dirty="0"/>
          </a:p>
        </p:txBody>
      </p:sp>
      <p:sp>
        <p:nvSpPr>
          <p:cNvPr id="68" name="Text 65"/>
          <p:cNvSpPr/>
          <p:nvPr/>
        </p:nvSpPr>
        <p:spPr>
          <a:xfrm>
            <a:off x="5029200" y="2926080"/>
            <a:ext cx="91440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MEDIUM 🟡</a:t>
            </a:r>
            <a:endParaRPr lang="en-US" sz="800" dirty="0"/>
          </a:p>
        </p:txBody>
      </p:sp>
      <p:sp>
        <p:nvSpPr>
          <p:cNvPr id="69" name="Text 66"/>
          <p:cNvSpPr/>
          <p:nvPr/>
        </p:nvSpPr>
        <p:spPr>
          <a:xfrm>
            <a:off x="3310128" y="3273552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▸ 26 juta histori browsing bocor</a:t>
            </a:r>
            <a:endParaRPr lang="en-US" sz="850" dirty="0"/>
          </a:p>
        </p:txBody>
      </p:sp>
      <p:sp>
        <p:nvSpPr>
          <p:cNvPr id="70" name="Text 67"/>
          <p:cNvSpPr/>
          <p:nvPr/>
        </p:nvSpPr>
        <p:spPr>
          <a:xfrm>
            <a:off x="3310128" y="3502152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▸ Data PII tidak dienkripsi</a:t>
            </a:r>
            <a:endParaRPr lang="en-US" sz="850" dirty="0"/>
          </a:p>
        </p:txBody>
      </p:sp>
      <p:sp>
        <p:nvSpPr>
          <p:cNvPr id="71" name="Text 68"/>
          <p:cNvSpPr/>
          <p:nvPr/>
        </p:nvSpPr>
        <p:spPr>
          <a:xfrm>
            <a:off x="3310128" y="3803904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</a:rPr>
              <a:t>OWASP:</a:t>
            </a:r>
            <a:endParaRPr lang="en-US" sz="750" dirty="0"/>
          </a:p>
        </p:txBody>
      </p:sp>
      <p:sp>
        <p:nvSpPr>
          <p:cNvPr id="72" name="Shape 69"/>
          <p:cNvSpPr/>
          <p:nvPr/>
        </p:nvSpPr>
        <p:spPr>
          <a:xfrm>
            <a:off x="3904488" y="3803904"/>
            <a:ext cx="566928" cy="2011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0"/>
          <p:cNvSpPr/>
          <p:nvPr/>
        </p:nvSpPr>
        <p:spPr>
          <a:xfrm>
            <a:off x="3904488" y="380390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8B04A"/>
                </a:solidFill>
              </a:rPr>
              <a:t>A02</a:t>
            </a:r>
            <a:endParaRPr lang="en-US" sz="750" dirty="0"/>
          </a:p>
        </p:txBody>
      </p:sp>
      <p:sp>
        <p:nvSpPr>
          <p:cNvPr id="74" name="Shape 71"/>
          <p:cNvSpPr/>
          <p:nvPr/>
        </p:nvSpPr>
        <p:spPr>
          <a:xfrm>
            <a:off x="4544568" y="3803904"/>
            <a:ext cx="566928" cy="2011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2"/>
          <p:cNvSpPr/>
          <p:nvPr/>
        </p:nvSpPr>
        <p:spPr>
          <a:xfrm>
            <a:off x="4544568" y="380390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8B04A"/>
                </a:solidFill>
              </a:rPr>
              <a:t>A05</a:t>
            </a:r>
            <a:endParaRPr lang="en-US" sz="750" dirty="0"/>
          </a:p>
        </p:txBody>
      </p:sp>
      <p:sp>
        <p:nvSpPr>
          <p:cNvPr id="76" name="Shape 73"/>
          <p:cNvSpPr/>
          <p:nvPr/>
        </p:nvSpPr>
        <p:spPr>
          <a:xfrm>
            <a:off x="3310128" y="4078224"/>
            <a:ext cx="25603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4"/>
          <p:cNvSpPr/>
          <p:nvPr/>
        </p:nvSpPr>
        <p:spPr>
          <a:xfrm>
            <a:off x="3310128" y="4142232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1A6B4A"/>
                </a:solidFill>
              </a:rPr>
              <a:t>💡 Data minimization · Enkripsi at-rest</a:t>
            </a:r>
            <a:endParaRPr lang="en-US" sz="800" dirty="0"/>
          </a:p>
        </p:txBody>
      </p:sp>
      <p:sp>
        <p:nvSpPr>
          <p:cNvPr id="78" name="Shape 75"/>
          <p:cNvSpPr/>
          <p:nvPr/>
        </p:nvSpPr>
        <p:spPr>
          <a:xfrm>
            <a:off x="6163056" y="2926080"/>
            <a:ext cx="274320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9" name="Shape 76"/>
          <p:cNvSpPr/>
          <p:nvPr/>
        </p:nvSpPr>
        <p:spPr>
          <a:xfrm>
            <a:off x="6163056" y="2926080"/>
            <a:ext cx="2743200" cy="292608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7"/>
          <p:cNvSpPr/>
          <p:nvPr/>
        </p:nvSpPr>
        <p:spPr>
          <a:xfrm>
            <a:off x="6236208" y="29260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Portal Pemda (Ongoing)</a:t>
            </a:r>
            <a:endParaRPr lang="en-US" sz="950" dirty="0"/>
          </a:p>
        </p:txBody>
      </p:sp>
      <p:sp>
        <p:nvSpPr>
          <p:cNvPr id="81" name="Text 78"/>
          <p:cNvSpPr/>
          <p:nvPr/>
        </p:nvSpPr>
        <p:spPr>
          <a:xfrm>
            <a:off x="7973568" y="2926080"/>
            <a:ext cx="91440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ONGOING 🟠</a:t>
            </a:r>
            <a:endParaRPr lang="en-US" sz="800" dirty="0"/>
          </a:p>
        </p:txBody>
      </p:sp>
      <p:sp>
        <p:nvSpPr>
          <p:cNvPr id="82" name="Text 79"/>
          <p:cNvSpPr/>
          <p:nvPr/>
        </p:nvSpPr>
        <p:spPr>
          <a:xfrm>
            <a:off x="6254496" y="3273552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▸ Defacement &amp; data exfiltration</a:t>
            </a:r>
            <a:endParaRPr lang="en-US" sz="850" dirty="0"/>
          </a:p>
        </p:txBody>
      </p:sp>
      <p:sp>
        <p:nvSpPr>
          <p:cNvPr id="83" name="Text 80"/>
          <p:cNvSpPr/>
          <p:nvPr/>
        </p:nvSpPr>
        <p:spPr>
          <a:xfrm>
            <a:off x="6254496" y="3502152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▸ SQLi pada form pencarian</a:t>
            </a:r>
            <a:endParaRPr lang="en-US" sz="850" dirty="0"/>
          </a:p>
        </p:txBody>
      </p:sp>
      <p:sp>
        <p:nvSpPr>
          <p:cNvPr id="84" name="Text 81"/>
          <p:cNvSpPr/>
          <p:nvPr/>
        </p:nvSpPr>
        <p:spPr>
          <a:xfrm>
            <a:off x="6254496" y="3803904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</a:rPr>
              <a:t>OWASP:</a:t>
            </a:r>
            <a:endParaRPr lang="en-US" sz="750" dirty="0"/>
          </a:p>
        </p:txBody>
      </p:sp>
      <p:sp>
        <p:nvSpPr>
          <p:cNvPr id="85" name="Shape 82"/>
          <p:cNvSpPr/>
          <p:nvPr/>
        </p:nvSpPr>
        <p:spPr>
          <a:xfrm>
            <a:off x="6848856" y="3803904"/>
            <a:ext cx="566928" cy="2011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3"/>
          <p:cNvSpPr/>
          <p:nvPr/>
        </p:nvSpPr>
        <p:spPr>
          <a:xfrm>
            <a:off x="6848856" y="380390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8B04A"/>
                </a:solidFill>
              </a:rPr>
              <a:t>A03</a:t>
            </a:r>
            <a:endParaRPr lang="en-US" sz="750" dirty="0"/>
          </a:p>
        </p:txBody>
      </p:sp>
      <p:sp>
        <p:nvSpPr>
          <p:cNvPr id="87" name="Shape 84"/>
          <p:cNvSpPr/>
          <p:nvPr/>
        </p:nvSpPr>
        <p:spPr>
          <a:xfrm>
            <a:off x="7488936" y="3803904"/>
            <a:ext cx="566928" cy="2011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85"/>
          <p:cNvSpPr/>
          <p:nvPr/>
        </p:nvSpPr>
        <p:spPr>
          <a:xfrm>
            <a:off x="7488936" y="380390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8B04A"/>
                </a:solidFill>
              </a:rPr>
              <a:t>A05</a:t>
            </a:r>
            <a:endParaRPr lang="en-US" sz="750" dirty="0"/>
          </a:p>
        </p:txBody>
      </p:sp>
      <p:sp>
        <p:nvSpPr>
          <p:cNvPr id="89" name="Shape 86"/>
          <p:cNvSpPr/>
          <p:nvPr/>
        </p:nvSpPr>
        <p:spPr>
          <a:xfrm>
            <a:off x="8129016" y="3803904"/>
            <a:ext cx="566928" cy="2011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87"/>
          <p:cNvSpPr/>
          <p:nvPr/>
        </p:nvSpPr>
        <p:spPr>
          <a:xfrm>
            <a:off x="8129016" y="380390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8B04A"/>
                </a:solidFill>
              </a:rPr>
              <a:t>A06</a:t>
            </a:r>
            <a:endParaRPr lang="en-US" sz="750" dirty="0"/>
          </a:p>
        </p:txBody>
      </p:sp>
      <p:sp>
        <p:nvSpPr>
          <p:cNvPr id="91" name="Shape 88"/>
          <p:cNvSpPr/>
          <p:nvPr/>
        </p:nvSpPr>
        <p:spPr>
          <a:xfrm>
            <a:off x="6254496" y="4078224"/>
            <a:ext cx="25603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89"/>
          <p:cNvSpPr/>
          <p:nvPr/>
        </p:nvSpPr>
        <p:spPr>
          <a:xfrm>
            <a:off x="6254496" y="4142232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1A6B4A"/>
                </a:solidFill>
              </a:rPr>
              <a:t>💡 Pentest berkala · Update framework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18872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9808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FFFFFF"/>
                </a:solidFill>
              </a:rPr>
              <a:t>DARI 6 KASUS → 3 ROOT CAUSE YANG SAMA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274320" y="749808"/>
            <a:ext cx="27432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274320" y="749808"/>
            <a:ext cx="2743200" cy="594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65760" y="749808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914400" y="80467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Patch Terlambat / Tidak Ada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84048" y="141732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B7280"/>
                </a:solidFill>
              </a:rPr>
              <a:t>Muncul di: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143000" y="1417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PDNS · BSI · Portal Pemda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84048" y="1682496"/>
            <a:ext cx="2542032" cy="475488"/>
          </a:xfrm>
          <a:prstGeom prst="rect">
            <a:avLst/>
          </a:prstGeom>
          <a:solidFill>
            <a:srgbClr val="FEF2F2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38912" y="1700784"/>
            <a:ext cx="2450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C0392B"/>
                </a:solidFill>
              </a:rPr>
              <a:t>📌  60 hari rata-rata dari CVE disclosure ke exploit aktif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384048" y="2231136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B1F3A"/>
                </a:solidFill>
              </a:rPr>
              <a:t>SOLUSI: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84048" y="2505456"/>
            <a:ext cx="54864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12064" y="248716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OWASP Dependency-Check di CI/CD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384048" y="2907792"/>
            <a:ext cx="54864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12064" y="288950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SLA: Critical 48 jam · High 7 hari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384048" y="3310128"/>
            <a:ext cx="54864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12064" y="32918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failBuildOnCVSS=7 di pipeline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384048" y="3712464"/>
            <a:ext cx="54864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12064" y="369417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Spring BOM — jangan fix versi manual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3218688" y="749808"/>
            <a:ext cx="27432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3218688" y="749808"/>
            <a:ext cx="2743200" cy="594360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3310128" y="749808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25" name="Text 22"/>
          <p:cNvSpPr/>
          <p:nvPr/>
        </p:nvSpPr>
        <p:spPr>
          <a:xfrm>
            <a:off x="3858768" y="80467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Konfigurasi Default / Tidak Aman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3328416" y="141732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B7280"/>
                </a:solidFill>
              </a:rPr>
              <a:t>Muncul di: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4087368" y="1417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BPJS · IndiHome · Portal Pemda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3328416" y="1682496"/>
            <a:ext cx="2542032" cy="475488"/>
          </a:xfrm>
          <a:prstGeom prst="rect">
            <a:avLst/>
          </a:prstGeom>
          <a:solidFill>
            <a:srgbClr val="FFF7ED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3383280" y="1700784"/>
            <a:ext cx="2450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D35400"/>
                </a:solidFill>
              </a:rPr>
              <a:t>📌  43% breach berawal dari misconfiguration (IBM DBIR 2023)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3328416" y="2231136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B1F3A"/>
                </a:solidFill>
              </a:rPr>
              <a:t>SOLUSI: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3328416" y="2505456"/>
            <a:ext cx="54864" cy="274320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3456432" y="248716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Security hardening checklist pre-deploy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3328416" y="2907792"/>
            <a:ext cx="54864" cy="274320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3456432" y="288950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SonarQube → deteksi hardcoded secret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328416" y="3310128"/>
            <a:ext cx="54864" cy="274320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3456432" y="32918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CORS whitelist, H2 Console di-off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3328416" y="3712464"/>
            <a:ext cx="54864" cy="274320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3456432" y="369417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Spring Security config yang eksplisit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6163056" y="749808"/>
            <a:ext cx="27432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7"/>
          <p:cNvSpPr/>
          <p:nvPr/>
        </p:nvSpPr>
        <p:spPr>
          <a:xfrm>
            <a:off x="6163056" y="749808"/>
            <a:ext cx="2743200" cy="594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6254496" y="749808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42" name="Text 39"/>
          <p:cNvSpPr/>
          <p:nvPr/>
        </p:nvSpPr>
        <p:spPr>
          <a:xfrm>
            <a:off x="6803136" y="80467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Deteksi &amp; Respons Lambat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6272784" y="141732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B7280"/>
                </a:solidFill>
              </a:rPr>
              <a:t>Muncul di: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7031736" y="1417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BSI (3 hari) · BPJS (berbulan-bulan)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6272784" y="1682496"/>
            <a:ext cx="2542032" cy="475488"/>
          </a:xfrm>
          <a:prstGeom prst="rect">
            <a:avLst/>
          </a:prstGeom>
          <a:solidFill>
            <a:srgbClr val="FFFB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6327648" y="1700784"/>
            <a:ext cx="2450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D97706"/>
                </a:solidFill>
              </a:rPr>
              <a:t>📌  207 hari rata-rata untuk mendeteksi breach (IBM 2023)</a:t>
            </a:r>
            <a:endParaRPr lang="en-US" sz="850" dirty="0"/>
          </a:p>
        </p:txBody>
      </p:sp>
      <p:sp>
        <p:nvSpPr>
          <p:cNvPr id="47" name="Text 44"/>
          <p:cNvSpPr/>
          <p:nvPr/>
        </p:nvSpPr>
        <p:spPr>
          <a:xfrm>
            <a:off x="6272784" y="2231136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B1F3A"/>
                </a:solidFill>
              </a:rPr>
              <a:t>SOLUSI: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6272784" y="2505456"/>
            <a:ext cx="54864" cy="274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6"/>
          <p:cNvSpPr/>
          <p:nvPr/>
        </p:nvSpPr>
        <p:spPr>
          <a:xfrm>
            <a:off x="6400800" y="248716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Log semua auth event (login gagal)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6272784" y="2907792"/>
            <a:ext cx="54864" cy="274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8"/>
          <p:cNvSpPr/>
          <p:nvPr/>
        </p:nvSpPr>
        <p:spPr>
          <a:xfrm>
            <a:off x="6400800" y="288950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Spring Boot Actuator + monitoring</a:t>
            </a:r>
            <a:endParaRPr lang="en-US" sz="850" dirty="0"/>
          </a:p>
        </p:txBody>
      </p:sp>
      <p:sp>
        <p:nvSpPr>
          <p:cNvPr id="52" name="Shape 49"/>
          <p:cNvSpPr/>
          <p:nvPr/>
        </p:nvSpPr>
        <p:spPr>
          <a:xfrm>
            <a:off x="6272784" y="3310128"/>
            <a:ext cx="54864" cy="274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0"/>
          <p:cNvSpPr/>
          <p:nvPr/>
        </p:nvSpPr>
        <p:spPr>
          <a:xfrm>
            <a:off x="6400800" y="32918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Incident Response Plan tertulis</a:t>
            </a:r>
            <a:endParaRPr lang="en-US" sz="850" dirty="0"/>
          </a:p>
        </p:txBody>
      </p:sp>
      <p:sp>
        <p:nvSpPr>
          <p:cNvPr id="54" name="Shape 51"/>
          <p:cNvSpPr/>
          <p:nvPr/>
        </p:nvSpPr>
        <p:spPr>
          <a:xfrm>
            <a:off x="6272784" y="3712464"/>
            <a:ext cx="54864" cy="274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2"/>
          <p:cNvSpPr/>
          <p:nvPr/>
        </p:nvSpPr>
        <p:spPr>
          <a:xfrm>
            <a:off x="6400800" y="369417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Tabletop exercise berkala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18872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9808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</a:rPr>
              <a:t>DEVELOPER'S SECURITY CHECKLIST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7200" y="7315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Yang Bisa Kamu Lakukan Mulai Hari Ini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74320" y="1051560"/>
            <a:ext cx="128016" cy="2743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75488" y="10515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</a:rPr>
              <a:t>🔍 Sebelum Menulis Kode</a:t>
            </a:r>
            <a:endParaRPr lang="en-US" sz="11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408176"/>
            <a:ext cx="182880" cy="1828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76072" y="1371600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Threat modeling: Apa yang bisa salah di fitur ini?</a:t>
            </a:r>
            <a:endParaRPr lang="en-US" sz="9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664208"/>
            <a:ext cx="182880" cy="1828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76072" y="1627632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Cek CVE pada library yang akan dipakai (NVD / Snyk)</a:t>
            </a:r>
            <a:endParaRPr lang="en-US" sz="950" dirty="0"/>
          </a:p>
        </p:txBody>
      </p:sp>
      <p:sp>
        <p:nvSpPr>
          <p:cNvPr id="12" name="Shape 7"/>
          <p:cNvSpPr/>
          <p:nvPr/>
        </p:nvSpPr>
        <p:spPr>
          <a:xfrm>
            <a:off x="274320" y="1993392"/>
            <a:ext cx="128016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8"/>
          <p:cNvSpPr/>
          <p:nvPr/>
        </p:nvSpPr>
        <p:spPr>
          <a:xfrm>
            <a:off x="475488" y="199339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</a:rPr>
              <a:t>✍️ Saat Menulis Kode</a:t>
            </a:r>
            <a:endParaRPr lang="en-US" sz="11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350008"/>
            <a:ext cx="182880" cy="1828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76072" y="2313432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Selalu parameterized query — tidak pernah string concat</a:t>
            </a:r>
            <a:endParaRPr lang="en-US" sz="9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606040"/>
            <a:ext cx="182880" cy="18288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76072" y="256946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Validasi semua input di server side</a:t>
            </a:r>
            <a:endParaRPr lang="en-US" sz="9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862072"/>
            <a:ext cx="182880" cy="18288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76072" y="2825496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Tidak pernah hardcode credential di source code</a:t>
            </a:r>
            <a:endParaRPr lang="en-US" sz="95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118104"/>
            <a:ext cx="182880" cy="18288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576072" y="3081528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Gunakan BCrypt / Argon2 untuk hashing password</a:t>
            </a:r>
            <a:endParaRPr lang="en-US" sz="950" dirty="0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374136"/>
            <a:ext cx="182880" cy="182880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576072" y="3337560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CORS: whitelist origin eksplisit, bukan *</a:t>
            </a:r>
            <a:endParaRPr lang="en-US" sz="950" dirty="0"/>
          </a:p>
        </p:txBody>
      </p:sp>
      <p:sp>
        <p:nvSpPr>
          <p:cNvPr id="24" name="Shape 14"/>
          <p:cNvSpPr/>
          <p:nvPr/>
        </p:nvSpPr>
        <p:spPr>
          <a:xfrm>
            <a:off x="274320" y="3703320"/>
            <a:ext cx="128016" cy="274320"/>
          </a:xfrm>
          <a:prstGeom prst="rect">
            <a:avLst/>
          </a:prstGeom>
          <a:solidFill>
            <a:srgbClr val="1A6B4A"/>
          </a:solidFill>
          <a:ln w="12700">
            <a:solidFill>
              <a:srgbClr val="1A6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5"/>
          <p:cNvSpPr/>
          <p:nvPr/>
        </p:nvSpPr>
        <p:spPr>
          <a:xfrm>
            <a:off x="475488" y="37033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6B4A"/>
                </a:solidFill>
              </a:rPr>
              <a:t>🔬 Sebelum Merge / Deploy</a:t>
            </a:r>
            <a:endParaRPr lang="en-US" sz="1100" dirty="0"/>
          </a:p>
        </p:txBody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4059936"/>
            <a:ext cx="182880" cy="182880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576072" y="4023360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Jalankan SonarQube / SonarLint — zero critical issue</a:t>
            </a:r>
            <a:endParaRPr lang="en-US" sz="950" dirty="0"/>
          </a:p>
        </p:txBody>
      </p:sp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4315968"/>
            <a:ext cx="182880" cy="182880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576072" y="4279392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Jalankan OWASP Dependency-Check — tidak ada CVE ≥ 7</a:t>
            </a:r>
            <a:endParaRPr lang="en-US" sz="950" dirty="0"/>
          </a:p>
        </p:txBody>
      </p:sp>
      <p:pic>
        <p:nvPicPr>
          <p:cNvPr id="30" name="Image 1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4572000"/>
            <a:ext cx="182880" cy="182880"/>
          </a:xfrm>
          <a:prstGeom prst="rect">
            <a:avLst/>
          </a:prstGeom>
        </p:spPr>
      </p:pic>
      <p:sp>
        <p:nvSpPr>
          <p:cNvPr id="31" name="Text 18"/>
          <p:cNvSpPr/>
          <p:nvPr/>
        </p:nvSpPr>
        <p:spPr>
          <a:xfrm>
            <a:off x="576072" y="453542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Review Security Headers (CSP · HSTS · X-Frame-Options)</a:t>
            </a:r>
            <a:endParaRPr lang="en-US" sz="950" dirty="0"/>
          </a:p>
        </p:txBody>
      </p:sp>
      <p:pic>
        <p:nvPicPr>
          <p:cNvPr id="32" name="Image 1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4828032"/>
            <a:ext cx="182880" cy="182880"/>
          </a:xfrm>
          <a:prstGeom prst="rect">
            <a:avLst/>
          </a:prstGeom>
        </p:spPr>
      </p:pic>
      <p:sp>
        <p:nvSpPr>
          <p:cNvPr id="33" name="Text 19"/>
          <p:cNvSpPr/>
          <p:nvPr/>
        </p:nvSpPr>
        <p:spPr>
          <a:xfrm>
            <a:off x="576072" y="4791456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Nonaktifkan debug mode, H2 Console, stack trace</a:t>
            </a:r>
            <a:endParaRPr lang="en-US" sz="950" dirty="0"/>
          </a:p>
        </p:txBody>
      </p:sp>
      <p:sp>
        <p:nvSpPr>
          <p:cNvPr id="34" name="Shape 20"/>
          <p:cNvSpPr/>
          <p:nvPr/>
        </p:nvSpPr>
        <p:spPr>
          <a:xfrm>
            <a:off x="6126480" y="749808"/>
            <a:ext cx="2743200" cy="418795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21"/>
          <p:cNvSpPr/>
          <p:nvPr/>
        </p:nvSpPr>
        <p:spPr>
          <a:xfrm>
            <a:off x="6217920" y="822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E8B04A"/>
                </a:solidFill>
              </a:rPr>
              <a:t>REGULASI INDONESIA</a:t>
            </a:r>
            <a:endParaRPr lang="en-US" sz="1000" dirty="0"/>
          </a:p>
        </p:txBody>
      </p:sp>
      <p:sp>
        <p:nvSpPr>
          <p:cNvPr id="36" name="Shape 22"/>
          <p:cNvSpPr/>
          <p:nvPr/>
        </p:nvSpPr>
        <p:spPr>
          <a:xfrm>
            <a:off x="6217920" y="1207008"/>
            <a:ext cx="2560320" cy="1005840"/>
          </a:xfrm>
          <a:prstGeom prst="rect">
            <a:avLst/>
          </a:prstGeom>
          <a:solidFill>
            <a:srgbClr val="1E3D6B"/>
          </a:solidFill>
          <a:ln w="12700">
            <a:solidFill>
              <a:srgbClr val="16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23"/>
          <p:cNvSpPr/>
          <p:nvPr/>
        </p:nvSpPr>
        <p:spPr>
          <a:xfrm>
            <a:off x="6217920" y="1207008"/>
            <a:ext cx="2560320" cy="292608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24"/>
          <p:cNvSpPr/>
          <p:nvPr/>
        </p:nvSpPr>
        <p:spPr>
          <a:xfrm>
            <a:off x="6272784" y="120700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</a:rPr>
              <a:t>UU ITE No. 19/2016</a:t>
            </a:r>
            <a:endParaRPr lang="en-US" sz="950" dirty="0"/>
          </a:p>
        </p:txBody>
      </p:sp>
      <p:sp>
        <p:nvSpPr>
          <p:cNvPr id="39" name="Text 25"/>
          <p:cNvSpPr/>
          <p:nvPr/>
        </p:nvSpPr>
        <p:spPr>
          <a:xfrm>
            <a:off x="6272784" y="1554480"/>
            <a:ext cx="2450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5E7EB"/>
                </a:solidFill>
              </a:rPr>
              <a:t>Akses sistem tanpa izin = pidana. Wajib diketahui setiap developer.</a:t>
            </a:r>
            <a:endParaRPr lang="en-US" sz="900" dirty="0"/>
          </a:p>
        </p:txBody>
      </p:sp>
      <p:sp>
        <p:nvSpPr>
          <p:cNvPr id="40" name="Shape 26"/>
          <p:cNvSpPr/>
          <p:nvPr/>
        </p:nvSpPr>
        <p:spPr>
          <a:xfrm>
            <a:off x="6217920" y="2377440"/>
            <a:ext cx="2560320" cy="1005840"/>
          </a:xfrm>
          <a:prstGeom prst="rect">
            <a:avLst/>
          </a:prstGeom>
          <a:solidFill>
            <a:srgbClr val="1E3D6B"/>
          </a:solidFill>
          <a:ln w="12700">
            <a:solidFill>
              <a:srgbClr val="16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27"/>
          <p:cNvSpPr/>
          <p:nvPr/>
        </p:nvSpPr>
        <p:spPr>
          <a:xfrm>
            <a:off x="6217920" y="2377440"/>
            <a:ext cx="2560320" cy="292608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28"/>
          <p:cNvSpPr/>
          <p:nvPr/>
        </p:nvSpPr>
        <p:spPr>
          <a:xfrm>
            <a:off x="6272784" y="2377440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</a:rPr>
              <a:t>UU PDP No. 27/2022</a:t>
            </a:r>
            <a:endParaRPr lang="en-US" sz="950" dirty="0"/>
          </a:p>
        </p:txBody>
      </p:sp>
      <p:sp>
        <p:nvSpPr>
          <p:cNvPr id="43" name="Text 29"/>
          <p:cNvSpPr/>
          <p:nvPr/>
        </p:nvSpPr>
        <p:spPr>
          <a:xfrm>
            <a:off x="6272784" y="2724912"/>
            <a:ext cx="2450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5E7EB"/>
                </a:solidFill>
              </a:rPr>
              <a:t>Wajib notif breach 14 hari. Denda 2% dari pendapatan tahunan.</a:t>
            </a:r>
            <a:endParaRPr lang="en-US" sz="900" dirty="0"/>
          </a:p>
        </p:txBody>
      </p:sp>
      <p:sp>
        <p:nvSpPr>
          <p:cNvPr id="44" name="Shape 30"/>
          <p:cNvSpPr/>
          <p:nvPr/>
        </p:nvSpPr>
        <p:spPr>
          <a:xfrm>
            <a:off x="6217920" y="3547872"/>
            <a:ext cx="2560320" cy="1005840"/>
          </a:xfrm>
          <a:prstGeom prst="rect">
            <a:avLst/>
          </a:prstGeom>
          <a:solidFill>
            <a:srgbClr val="1E3D6B"/>
          </a:solidFill>
          <a:ln w="12700">
            <a:solidFill>
              <a:srgbClr val="162D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31"/>
          <p:cNvSpPr/>
          <p:nvPr/>
        </p:nvSpPr>
        <p:spPr>
          <a:xfrm>
            <a:off x="6217920" y="3547872"/>
            <a:ext cx="2560320" cy="292608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32"/>
          <p:cNvSpPr/>
          <p:nvPr/>
        </p:nvSpPr>
        <p:spPr>
          <a:xfrm>
            <a:off x="6272784" y="3547872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</a:rPr>
              <a:t>OJK POJK 11/2022</a:t>
            </a:r>
            <a:endParaRPr lang="en-US" sz="950" dirty="0"/>
          </a:p>
        </p:txBody>
      </p:sp>
      <p:sp>
        <p:nvSpPr>
          <p:cNvPr id="47" name="Text 33"/>
          <p:cNvSpPr/>
          <p:nvPr/>
        </p:nvSpPr>
        <p:spPr>
          <a:xfrm>
            <a:off x="6272784" y="3895344"/>
            <a:ext cx="2450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5E7EB"/>
                </a:solidFill>
              </a:rPr>
              <a:t>Wajib lapor insiden siber untuk perbankan dalam 1x24 jam.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5760720" y="182880"/>
            <a:ext cx="3108960" cy="3108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IS A MINDSET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457200" y="96012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8B04A"/>
                </a:solidFill>
              </a:rPr>
              <a:t>Bukan Checklist. Bukan Fitur. Ini Cara Berpikir.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389888"/>
            <a:ext cx="3657600" cy="0"/>
          </a:xfrm>
          <a:prstGeom prst="line">
            <a:avLst/>
          </a:prstGeom>
          <a:noFill/>
          <a:ln w="12700">
            <a:solidFill>
              <a:srgbClr val="C89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57200" y="1536192"/>
            <a:ext cx="347472" cy="347472"/>
          </a:xfrm>
          <a:prstGeom prst="ellipse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57200" y="15361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</a:rPr>
              <a:t>01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14400" y="1536192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Kasus PDNS, BSI, BPJS, Tokopedia nyata — dan bisa dicegah developer.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2194560"/>
            <a:ext cx="347472" cy="347472"/>
          </a:xfrm>
          <a:prstGeom prst="ellipse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57200" y="2194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</a:rPr>
              <a:t>02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914400" y="219456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SonarQube, Dependency-Check, ZAP — gratis &amp; bisa langsung di-integrasikan.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2852928"/>
            <a:ext cx="347472" cy="347472"/>
          </a:xfrm>
          <a:prstGeom prst="ellipse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57200" y="28529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</a:rPr>
              <a:t>03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914400" y="2852928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Tanggung jawab developer tidak berakhir saat kode di-deploy.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57200" y="3639312"/>
            <a:ext cx="6400800" cy="1005840"/>
          </a:xfrm>
          <a:prstGeom prst="rect">
            <a:avLst/>
          </a:prstGeom>
          <a:solidFill>
            <a:srgbClr val="162D50"/>
          </a:solidFill>
          <a:ln w="12700">
            <a:solidFill>
              <a:srgbClr val="C89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57200" y="3639312"/>
            <a:ext cx="73152" cy="1005840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58368" y="3675888"/>
            <a:ext cx="6126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7E8C8"/>
                </a:solidFill>
              </a:rPr>
              <a:t>"Saya pernah melihat tim yang sangat bagus dari sisi fitur, tapi satu bug SQL Injection di halaman pencarian bisa membuka seluruh database mereka."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58368" y="4315968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— Roy Antonius  ·  Software Engineering Specialist, Accenture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7040880" y="15544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C8922A"/>
                </a:solidFill>
              </a:rPr>
              <a:t>REFERENSI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7040880" y="1874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BFFA"/>
                </a:solidFill>
              </a:rPr>
              <a:t>▸  owasp.org/www-project-top-ten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7040880" y="21945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BFFA"/>
                </a:solidFill>
              </a:rPr>
              <a:t>▸  nvd.nist.gov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7040880" y="25146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BFFA"/>
                </a:solidFill>
              </a:rPr>
              <a:t>▸  sonarqube.org  |  sonarcloud.io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7040880" y="28346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BFFA"/>
                </a:solidFill>
              </a:rPr>
              <a:t>▸  bssn.go.id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A"/>
                </a:solidFill>
              </a:rPr>
              <a:t>Web Security in the Wild  ·  Roy Antonius  ·  Accenture Indonesia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B3E8EC-FFA5-4C1F-4705-865761760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2FEED64-136C-FCA9-3344-F5F381C1F754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45E50065-CBDC-3123-CA38-5F15939249B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5779008" y="274320"/>
            <a:ext cx="3200400" cy="320040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1D3A25F0-0325-65F3-542B-5EA7F80B3880}"/>
              </a:ext>
            </a:extLst>
          </p:cNvPr>
          <p:cNvSpPr/>
          <p:nvPr/>
        </p:nvSpPr>
        <p:spPr>
          <a:xfrm>
            <a:off x="45720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300" normalizeH="0" baseline="0" noProof="0" dirty="0">
                <a:ln>
                  <a:noFill/>
                </a:ln>
                <a:solidFill>
                  <a:srgbClr val="E8B04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WEB SECURITY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512E0B89-F79B-AEB9-EB53-E8E75CB185D7}"/>
              </a:ext>
            </a:extLst>
          </p:cNvPr>
          <p:cNvSpPr/>
          <p:nvPr/>
        </p:nvSpPr>
        <p:spPr>
          <a:xfrm>
            <a:off x="457200" y="1240466"/>
            <a:ext cx="7772400" cy="19847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Q &amp; A ?</a:t>
            </a:r>
            <a:endParaRPr kumimoji="0" lang="en-US" sz="5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E3DBA02F-0E3C-D751-A84C-C46A6E7F9AED}"/>
              </a:ext>
            </a:extLst>
          </p:cNvPr>
          <p:cNvSpPr/>
          <p:nvPr/>
        </p:nvSpPr>
        <p:spPr>
          <a:xfrm>
            <a:off x="457200" y="3401568"/>
            <a:ext cx="4114800" cy="0"/>
          </a:xfrm>
          <a:prstGeom prst="line">
            <a:avLst/>
          </a:prstGeom>
          <a:noFill/>
          <a:ln w="12700">
            <a:solidFill>
              <a:srgbClr val="C8922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3603FC1D-287C-40F1-8155-E5A3D441F578}"/>
              </a:ext>
            </a:extLst>
          </p:cNvPr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3CC62433-579C-98A7-B210-3E7CBA1F2ABA}"/>
              </a:ext>
            </a:extLst>
          </p:cNvPr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9623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1512</Words>
  <Application>Microsoft Office PowerPoint</Application>
  <PresentationFormat>On-screen Show (16:9)</PresentationFormat>
  <Paragraphs>368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Security in the Wild</dc:title>
  <dc:subject>PptxGenJS Presentation</dc:subject>
  <dc:creator>Roy Antonius — Accenture Indonesia</dc:creator>
  <cp:lastModifiedBy>Sinaga, Roy A.</cp:lastModifiedBy>
  <cp:revision>2</cp:revision>
  <dcterms:created xsi:type="dcterms:W3CDTF">2026-05-13T03:33:16Z</dcterms:created>
  <dcterms:modified xsi:type="dcterms:W3CDTF">2026-05-13T03:56:45Z</dcterms:modified>
</cp:coreProperties>
</file>